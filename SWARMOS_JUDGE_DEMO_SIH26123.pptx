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(30 seconds). Do not open with jargon. Open with the map.</a:t>
            </a:r>
          </a:p>
          <a:p>
            <a:r>
              <a:t>"This is SWARMOS -- a fleet of up to 50 warehouse robots, coordinating themselves with no central controller, and provably never colliding, even when we deliberately break things live."</a:t>
            </a:r>
          </a:p>
          <a:p>
            <a:r>
              <a:t>Then run the demo order in this deck. Every slide after this one maps to one live action + one talking point + one likely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safety net if anything is asked out of order. Never open with a fault injected -- always show 15+ seconds of calm, correct motion first so judges have a baseline mental model before you break anything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An ML advisory layer proposes speed changes. A small, auditable safety kernel independently decides the final verdict. The AI's opinion is display-only.</a:t>
            </a:r>
          </a:p>
          <a:p>
            <a:r>
              <a:t>2) Click sequence: Command Palette -&gt; Start run. Then inject KILL ML fault.</a:t>
            </a:r>
          </a:p>
          <a:p>
            <a:r>
              <a:t>3) What to point at on screen: Collisions KPI stays at 0 before and after. Robots keep moving identically. The Decision panel still shows verdicts with no advisory attached.</a:t>
            </a:r>
          </a:p>
          <a:p>
            <a:r>
              <a:t>4) Say: "Killing the AI right now changes nothing about safety."</a:t>
            </a:r>
          </a:p>
          <a:p/>
          <a:p>
            <a:r>
              <a:t>ANTICIPATED QUESTION: Isn't this just turning a feature off?</a:t>
            </a:r>
          </a:p>
          <a:p>
            <a:r>
              <a:t>ANSWER: It proves the safety-critical path has zero code dependency on the learned component -- enforced by a dedicated test (test_ml_fence.py), not just a demo trick.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PROCEED / SLOW / YIELD / WAIT / REROUTE -- the arbiter grades its intervention instead of stopping everyone at the first sign of conflict.</a:t>
            </a:r>
          </a:p>
          <a:p>
            <a:r>
              <a:t>2) Click sequence: Open the Decision tab, select two robots crossing paths.</a:t>
            </a:r>
          </a:p>
          <a:p>
            <a:r>
              <a:t>3) What to point at on screen: One robot SLOWs rather than stopping dead; the reason string names the peer and the exact distance.</a:t>
            </a:r>
          </a:p>
          <a:p>
            <a:r>
              <a:t>4) Say: "Grading keeps traffic moving instead of stopping everyone; the C2 result is quoted only from the frozen benchmark slide."</a:t>
            </a:r>
          </a:p>
          <a:p/>
          <a:p>
            <a:r>
              <a:t>ANTICIPATED QUESTION: Why not always stop to be maximally safe?</a:t>
            </a:r>
          </a:p>
          <a:p>
            <a:r>
              <a:t>ANSWER: Measured: an always-stop kernel vetoed 35% of all robot-ticks and wedged head-on traffic completely.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A robot can broadcast a false position. Peers' own honest sightings expose the mismatch, and the quorum layer quarantines the liar -- no central authority required.</a:t>
            </a:r>
          </a:p>
          <a:p>
            <a:r>
              <a:t>2) Click sequence: Inject ROGUE ROBOT fault on a moving robot.</a:t>
            </a:r>
          </a:p>
          <a:p>
            <a:r>
              <a:t>3) What to point at on screen: A dashed line from the robot's real body to its false claimed position -- the gap is the evidence. Ring turns quarantine colour within a few ticks.</a:t>
            </a:r>
          </a:p>
          <a:p>
            <a:r>
              <a:t>4) Say: "That gap you see is the lie, and the fleet caught it on its own."</a:t>
            </a:r>
          </a:p>
          <a:p/>
          <a:p>
            <a:r>
              <a:t>ANTICIPATED QUESTION: What if an honest robot has sensor noise?</a:t>
            </a:r>
          </a:p>
          <a:p>
            <a:r>
              <a:t>ANSWER: The claim tolerance is set beyond realistic sensor noise but inside the danger threshold -- the fault's default offset is chosen to sit outside that tolerance.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A robot that hears zero peers for half a second keeps working under a WIDER safety envelope and capped speed, instead of stopping and blocking the aisle.</a:t>
            </a:r>
          </a:p>
          <a:p>
            <a:r>
              <a:t>2) Click sequence: Inject COMM BLACKOUT on a moving robot.</a:t>
            </a:r>
          </a:p>
          <a:p>
            <a:r>
              <a:t>3) What to point at on screen: That robot's safety ring visibly widens and it slows, but keeps moving; after ~6 seconds it rejoins and the ring returns to normal.</a:t>
            </a:r>
          </a:p>
          <a:p>
            <a:r>
              <a:t>4) Say: "Less information means more caution, not a dead stop."</a:t>
            </a:r>
          </a:p>
          <a:p/>
          <a:p>
            <a:r>
              <a:t>ANTICIPATED QUESTION: Isn't moving blind more dangerous than stopping?</a:t>
            </a:r>
          </a:p>
          <a:p>
            <a:r>
              <a:t>ANSWER: A stopped robot blocking an aisle is its own hazard for everyone else. The wider floor is measured to still hold zero collisions.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TALKING SCRIPT</a:t>
            </a:r>
          </a:p>
          <a:p>
            <a:r>
              <a:t>1) What it is: The classical stop-and-wait baseline and SWARMOS run on the IDENTICAL seed and task stream, side by side -- a paired, falsifiable comparison, not two runs that happened to differ.</a:t>
            </a:r>
          </a:p>
          <a:p>
            <a:r>
              <a:t>2) Click sequence: Open the Compare tab, pick rush_50, seed 11, press Start.</a:t>
            </a:r>
          </a:p>
          <a:p>
            <a:r>
              <a:t>3) What to point at on screen: Both fleets render on the same map (SWARMOS solid, baseline ghosted); the delta panel updates live.</a:t>
            </a:r>
          </a:p>
          <a:p>
            <a:r>
              <a:t>4) Say: "Same warehouse, same tasks, same seed -- only the coordination brain changed."</a:t>
            </a:r>
          </a:p>
          <a:p/>
          <a:p>
            <a:r>
              <a:t>ANTICIPATED QUESTION: Is this live view the C2 result?</a:t>
            </a:r>
          </a:p>
          <a:p>
            <a:r>
              <a:t>ANSWER: No -- it is a one-seed illustration, and its SWARMOS arm still uses the pre-v3 settings. C2 is quoted only from the frozen v3 simulation benchmark (next slides): +48.9%, 95% CI [+35.3%, +62.5%], mostly reliability.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docs/C2_V3_PRODUCT_RESULT.md. Say 'simulation benchmark'. Give the speed caveat and the open-floor slowdown BEFORE anyone asks. Do not say SWARMOS is universally faster, and do not claim hardware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a credibility weapon, not a weakness. Say it BEFORE a judge finds it -- it proves the team can tell real novelty apart from standard practice, which is rarer at hackathon scale than a clean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four claims rated GENUINE or GENUINE-NEW in our own internal review. Do not oversell the rest -- the honesty is the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6400" b="1">
                <a:solidFill>
                  <a:srgbClr val="121E33"/>
                </a:solidFill>
              </a:rPr>
              <a:t>SWARMOS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1F7A6C"/>
                </a:solidFill>
              </a:rPr>
              <a:t>Judge Demo Deck -- SIH26123 -- Live Feature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B747D"/>
                </a:solidFill>
              </a:rPr>
              <a:t>Edge-AI Based Distributed Fleet Coordination for Autonomous Mobile Robots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BEFORE YOU TOUCH ANYTHING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Demo Run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1. ./run.sh  (or already running -- confirm http://127.0.0.1:8770/ loads)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2. Landing page -&gt; ENTER SWARMOS -&gt; dashboard loads with rush_50 / seed 11 / fleet 8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3. Command Palette (Ctrl+K) -&gt; Start run  (or click Start demo run)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4. Let it run ~15 seconds so the judges see steady motion first, THEN start injecting faults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5. Work through the feature slides in this deck in order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6. Close with the Compare tab (baseline vs SWARMOS side by side)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CLAIM N5 / X-09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The Safety Kernel Never Trusts the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An ML advisory layer proposes speed changes. A small, auditable safety kernel independently decides the final verdict. The AI's opinion is display-only.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Command Palette -&gt; Start run. Then inject KILL ML fault.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Collisions KPI stays at 0 before and after. Robots keep moving identically. The Decision panel still shows verdicts with no advisory attached.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"Killing the AI right now changes nothing about safety."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THE VERDICT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Graded Response, Not Binary Stop/Go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PROCEED / SLOW / YIELD / WAIT / REROUTE -- the arbiter grades its intervention instead of stopping everyone at the first sign of conflict.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Open the Decision tab, select two robots crossing paths.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One robot SLOWs rather than stopping dead; the reason string names the peer and the exact distance.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"Grading keeps traffic moving instead of stopping everyone; the C2 result is quoted only from the frozen benchmark slide."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CLAIM N9 / X-10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Catching a Robot That 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A robot can broadcast a false position. Peers' own honest sightings expose the mismatch, and the quorum layer quarantines the liar -- no central authority required.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Inject ROGUE ROBOT fault on a moving robot.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A dashed line from the robot's real body to its false claimed position -- the gap is the evidence. Ring turns quarantine colour within a few ticks.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"That gap you see is the lie, and the fleet caught it on its own."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CLAIM X-01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Surviving a Communications Blackout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A robot that hears zero peers for half a second keeps working under a WIDER safety envelope and capped speed, instead of stopping and blocking the aisle.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Inject COMM BLACKOUT on a moving robot.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That robot's safety ring visibly widens and it slows, but keeps moving; after ~6 seconds it rejoins and the ring returns to normal.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"Less information means more caution, not a dead stop."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CLAIM N10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A Fair Fight: Baseline vs SWARMOS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WHAT IT IS:  </a:t>
            </a:r>
            <a:r>
              <a:rPr sz="1400">
                <a:solidFill>
                  <a:srgbClr val="222830"/>
                </a:solidFill>
              </a:rPr>
              <a:t>The classical stop-and-wait baseline and SWARMOS run on the IDENTICAL seed and task stream, side by side -- a paired, falsifiable comparison, not two runs that happened to differ.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CLICK SEQUENCE:  </a:t>
            </a:r>
            <a:r>
              <a:rPr sz="1400">
                <a:solidFill>
                  <a:srgbClr val="222830"/>
                </a:solidFill>
              </a:rPr>
              <a:t>Open the Compare tab, pick rush_50, seed 11, press Start.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JUDGE SHOULD SEE:  </a:t>
            </a:r>
            <a:r>
              <a:rPr sz="1400">
                <a:solidFill>
                  <a:srgbClr val="222830"/>
                </a:solidFill>
              </a:rPr>
              <a:t>Both fleets render on the same map (SWARMOS solid, baseline ghosted); the delta panel updates live.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SAY OUT LOUD:  </a:t>
            </a:r>
            <a:r>
              <a:rPr sz="1400">
                <a:solidFill>
                  <a:srgbClr val="1F7A6C"/>
                </a:solidFill>
              </a:rPr>
              <a:t>"Same warehouse, same tasks, same seed -- only the coordination brain changed."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SIMULATION BENCHMARK -- FROZEN PROTOCOL V3 -- PRODUCT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C2 Result: SWARMOS Product vs Textbook Stop-and-Wait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222830"/>
                </a:solidFill>
              </a:rPr>
              <a:t>Product default: F1 + F3 + F5 + F6 (F6 = 300-tick release cooldown). F2(a)/(b) OFF. Safety floor 0.75 m. Reference: textbook stop-and-wait + F1 + F6.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Primary  </a:t>
            </a:r>
            <a:r>
              <a:rPr sz="1400">
                <a:solidFill>
                  <a:srgbClr val="222830"/>
                </a:solidFill>
              </a:rPr>
              <a:t>overlap_batch, 40 fresh seeds (600001-600040): capped time reduction +48.9%, 95% CI [+35.3%, +62.5%]. Finish rate 40/40 vs 21/40. No seed failed only by SWARMOS. All five frozen conditions passed.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Speed  </a:t>
            </a:r>
            <a:r>
              <a:rPr sz="1400">
                <a:solidFill>
                  <a:srgbClr val="222830"/>
                </a:solidFill>
              </a:rPr>
              <a:t>Seeds where both finished: +17.5%, CI [+1.4%, +33.6%] -- below 20% on speed alone. The primary gain is mostly finishing batches the reference does not.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Open floor  </a:t>
            </a:r>
            <a:r>
              <a:rPr sz="1400">
                <a:solidFill>
                  <a:srgbClr val="222830"/>
                </a:solidFill>
              </a:rPr>
              <a:t>Capped +33.7% [+4.5%, +62.8%], finish 40/40 vs 15/40 -- but SWARMOS is SLOWER when both finish.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Safety  </a:t>
            </a:r>
            <a:r>
              <a:rPr sz="1400">
                <a:solidFill>
                  <a:srgbClr val="222830"/>
                </a:solidFill>
              </a:rPr>
              <a:t>240 runs: 0 collisions, 0 invariant failures; SWARMOS 0 margin breaches, 0 frozen pairs. The only margin breach (0.748 m) was the tuned reference arm.</a:t>
            </a:r>
          </a:p>
          <a:p>
            <a:pPr>
              <a:spcAft>
                <a:spcPts val="1000"/>
              </a:spcAft>
            </a:pPr>
            <a:r>
              <a:rPr b="1" sz="1400">
                <a:solidFill>
                  <a:srgbClr val="1F7A6C"/>
                </a:solidFill>
              </a:rPr>
              <a:t>Integrity  </a:t>
            </a:r>
            <a:r>
              <a:rPr sz="1400">
                <a:solidFill>
                  <a:srgbClr val="222830"/>
                </a:solidFill>
              </a:rPr>
              <a:t>Protocol frozen before the run and byte-identical after; 240/240 replayed exactly; code identity f3dabbf0...094f.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SAY THIS PROACTIVELY -- DO NOT WAIT TO BE ASKED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B43A2B"/>
                </a:solidFill>
              </a:rPr>
              <a:t>What We Are NOT Claiming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Decentralised task auction (N1): Contract Net Protocol, 1980. We compete on measured result, not the idea.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Space-time reservation (N2): WHCA* / Kiva-class practice. Table stakes, not novel.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Deadlock ladder (N4): classical wait-for cycle detection (Coffman). The visibility of the ladder is the value-add.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222830"/>
                </a:solidFill>
              </a:rPr>
              <a:t>C2 (target &gt;=20%): MET for the product default in a frozen SIMULATION benchmark, mostly via reliability. Speed where both finish is +17.5% (below 20% alone); slower on the open floor when both finish. No hardware certification.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F7A6C"/>
                </a:solidFill>
              </a:rPr>
              <a:t>CLOSE ON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21E33"/>
                </a:solidFill>
              </a:rPr>
              <a:t>What IS Genuinely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800">
                <a:solidFill>
                  <a:srgbClr val="1F7A6C"/>
                </a:solidFill>
              </a:rPr>
              <a:t>N3  </a:t>
            </a:r>
            <a:r>
              <a:rPr sz="1800">
                <a:solidFill>
                  <a:srgbClr val="222830"/>
                </a:solidFill>
              </a:rPr>
              <a:t>Deterministic replay -- same seed, identical trace hash, provable live.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7A6C"/>
                </a:solidFill>
              </a:rPr>
              <a:t>N5  </a:t>
            </a:r>
            <a:r>
              <a:rPr sz="1800">
                <a:solidFill>
                  <a:srgbClr val="222830"/>
                </a:solidFill>
              </a:rPr>
              <a:t>Simplex safety kernel with a firewalled AI advisory layer.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7A6C"/>
                </a:solidFill>
              </a:rPr>
              <a:t>N9  </a:t>
            </a:r>
            <a:r>
              <a:rPr sz="1800">
                <a:solidFill>
                  <a:srgbClr val="222830"/>
                </a:solidFill>
              </a:rPr>
              <a:t>Adversarial robot containment -- Byzantine-tolerant allocation, rare at this scale.</a:t>
            </a:r>
          </a:p>
          <a:p>
            <a:pPr>
              <a:spcAft>
                <a:spcPts val="1000"/>
              </a:spcAft>
            </a:pPr>
            <a:r>
              <a:rPr b="1" sz="1800">
                <a:solidFill>
                  <a:srgbClr val="1F7A6C"/>
                </a:solidFill>
              </a:rPr>
              <a:t>N10  </a:t>
            </a:r>
            <a:r>
              <a:rPr sz="1800">
                <a:solidFill>
                  <a:srgbClr val="222830"/>
                </a:solidFill>
              </a:rPr>
              <a:t>Paired counterfactual co-simulation against a fairly-tuned classical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