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ounded Rectangle 1"/>
          <p:cNvSpPr/>
          <p:nvPr/>
        </p:nvSpPr>
        <p:spPr>
          <a:xfrm>
            <a:off x="0" y="0"/>
            <a:ext cx="12191695" cy="128016"/>
          </a:xfrm>
          <a:prstGeom prst="round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1737360"/>
            <a:ext cx="10515600" cy="2377440"/>
          </a:xfrm>
          <a:prstGeom prst="rect">
            <a:avLst/>
          </a:prstGeom>
          <a:noFill/>
        </p:spPr>
        <p:txBody>
          <a:bodyPr wrap="square">
            <a:spAutoFit/>
          </a:bodyPr>
          <a:lstStyle/>
          <a:p>
            <a:pPr>
              <a:spcAft>
                <a:spcPts val="600"/>
              </a:spcAft>
            </a:pPr>
            <a:r>
              <a:rPr sz="6600" b="1">
                <a:solidFill>
                  <a:srgbClr val="E8ECF1"/>
                </a:solidFill>
                <a:latin typeface="Calibri"/>
              </a:rPr>
              <a:t>SWARMOS</a:t>
            </a:r>
          </a:p>
          <a:p>
            <a:pPr>
              <a:spcAft>
                <a:spcPts val="1000"/>
              </a:spcAft>
            </a:pPr>
            <a:r>
              <a:rPr sz="2100" b="0">
                <a:solidFill>
                  <a:srgbClr val="E8ECF1"/>
                </a:solidFill>
                <a:latin typeface="Calibri"/>
              </a:rPr>
              <a:t>Edge-AI Based Distributed Fleet Coordination for Autonomous Mobile Robots in Smart Warehouses</a:t>
            </a:r>
          </a:p>
          <a:p>
            <a:pPr>
              <a:spcAft>
                <a:spcPts val="400"/>
              </a:spcAft>
            </a:pPr>
            <a:r>
              <a:rPr sz="1300" b="0">
                <a:solidFill>
                  <a:srgbClr val="93A1B2"/>
                </a:solidFill>
                <a:latin typeface="Calibri"/>
              </a:rPr>
              <a:t>Master Specification  -  Problem ID SIH26123  -  Bharat Electronics Limited  -  Robotics and Drones</a:t>
            </a:r>
          </a:p>
        </p:txBody>
      </p:sp>
      <p:sp>
        <p:nvSpPr>
          <p:cNvPr id="4" name="Rounded Rectangle 3"/>
          <p:cNvSpPr/>
          <p:nvPr/>
        </p:nvSpPr>
        <p:spPr>
          <a:xfrm>
            <a:off x="502920" y="4343400"/>
            <a:ext cx="2617470" cy="132588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B9EFF"/>
                </a:solidFill>
                <a:latin typeface="Calibri"/>
              </a:rPr>
              <a:t>6</a:t>
            </a:r>
          </a:p>
          <a:p>
            <a:pPr>
              <a:spcAft>
                <a:spcPts val="400"/>
              </a:spcAft>
            </a:pPr>
            <a:r>
              <a:rPr sz="1100" b="0">
                <a:solidFill>
                  <a:srgbClr val="93A1B2"/>
                </a:solidFill>
                <a:latin typeface="Calibri"/>
              </a:rPr>
              <a:t>modules, all implemented</a:t>
            </a:r>
          </a:p>
        </p:txBody>
      </p:sp>
      <p:sp>
        <p:nvSpPr>
          <p:cNvPr id="5" name="Rounded Rectangle 4"/>
          <p:cNvSpPr/>
          <p:nvPr/>
        </p:nvSpPr>
        <p:spPr>
          <a:xfrm>
            <a:off x="3348989" y="4343400"/>
            <a:ext cx="2617470" cy="132588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570</a:t>
            </a:r>
          </a:p>
          <a:p>
            <a:pPr>
              <a:spcAft>
                <a:spcPts val="400"/>
              </a:spcAft>
            </a:pPr>
            <a:r>
              <a:rPr sz="1100" b="0">
                <a:solidFill>
                  <a:srgbClr val="93A1B2"/>
                </a:solidFill>
                <a:latin typeface="Calibri"/>
              </a:rPr>
              <a:t>tests green</a:t>
            </a:r>
          </a:p>
        </p:txBody>
      </p:sp>
      <p:sp>
        <p:nvSpPr>
          <p:cNvPr id="6" name="Rounded Rectangle 5"/>
          <p:cNvSpPr/>
          <p:nvPr/>
        </p:nvSpPr>
        <p:spPr>
          <a:xfrm>
            <a:off x="6195059" y="4343400"/>
            <a:ext cx="2617470" cy="132588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0</a:t>
            </a:r>
          </a:p>
          <a:p>
            <a:pPr>
              <a:spcAft>
                <a:spcPts val="400"/>
              </a:spcAft>
            </a:pPr>
            <a:r>
              <a:rPr sz="1100" b="0">
                <a:solidFill>
                  <a:srgbClr val="93A1B2"/>
                </a:solidFill>
                <a:latin typeface="Calibri"/>
              </a:rPr>
              <a:t>collisions, 18 paired runs</a:t>
            </a:r>
          </a:p>
        </p:txBody>
      </p:sp>
      <p:sp>
        <p:nvSpPr>
          <p:cNvPr id="7" name="Rounded Rectangle 6"/>
          <p:cNvSpPr/>
          <p:nvPr/>
        </p:nvSpPr>
        <p:spPr>
          <a:xfrm>
            <a:off x="9041130" y="4343400"/>
            <a:ext cx="2617470" cy="132588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4FB3A6"/>
                </a:solidFill>
                <a:latin typeface="Calibri"/>
              </a:rPr>
              <a:t>100 ms</a:t>
            </a:r>
          </a:p>
          <a:p>
            <a:pPr>
              <a:spcAft>
                <a:spcPts val="400"/>
              </a:spcAft>
            </a:pPr>
            <a:r>
              <a:rPr sz="1100" b="0">
                <a:solidFill>
                  <a:srgbClr val="93A1B2"/>
                </a:solidFill>
                <a:latin typeface="Calibri"/>
              </a:rPr>
              <a:t>hard tick budget, p95 10 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The problem SIH26123 actually states</a:t>
            </a:r>
          </a:p>
          <a:p>
            <a:pPr>
              <a:spcAft>
                <a:spcPts val="400"/>
              </a:spcAft>
            </a:pPr>
            <a:r>
              <a:rPr sz="1300" b="0">
                <a:solidFill>
                  <a:srgbClr val="93A1B2"/>
                </a:solidFill>
                <a:latin typeface="Calibri"/>
              </a:rPr>
              <a:t>What BEL asked for, in their words and then in ours</a:t>
            </a:r>
          </a:p>
        </p:txBody>
      </p:sp>
      <p:sp>
        <p:nvSpPr>
          <p:cNvPr id="4" name="Rounded Rectangle 3"/>
          <p:cNvSpPr/>
          <p:nvPr/>
        </p:nvSpPr>
        <p:spPr>
          <a:xfrm>
            <a:off x="502920" y="1234440"/>
            <a:ext cx="5394960" cy="457200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3B9EFF"/>
                </a:solidFill>
                <a:latin typeface="Calibri"/>
              </a:rPr>
              <a:t>As published</a:t>
            </a:r>
          </a:p>
          <a:p>
            <a:pPr>
              <a:spcAft>
                <a:spcPts val="600"/>
              </a:spcAft>
            </a:pPr>
            <a:r>
              <a:rPr sz="1200" b="0">
                <a:solidFill>
                  <a:srgbClr val="E8ECF1"/>
                </a:solidFill>
                <a:latin typeface="Calibri"/>
              </a:rPr>
              <a:t>Warehouses run large AMR fleets. Central schedulers are a single point of failure and a bandwidth bottleneck.</a:t>
            </a:r>
          </a:p>
          <a:p>
            <a:pPr>
              <a:spcAft>
                <a:spcPts val="600"/>
              </a:spcAft>
            </a:pPr>
            <a:r>
              <a:rPr sz="1200" b="0">
                <a:solidFill>
                  <a:srgbClr val="E8ECF1"/>
                </a:solidFill>
                <a:latin typeface="Calibri"/>
              </a:rPr>
              <a:t>Robots must coordinate at the edge: negotiate right of way, avoid deadlock, survive peer failure and radio loss.</a:t>
            </a:r>
          </a:p>
          <a:p>
            <a:pPr>
              <a:spcAft>
                <a:spcPts val="600"/>
              </a:spcAft>
            </a:pPr>
            <a:r>
              <a:rPr sz="1200" b="0">
                <a:solidFill>
                  <a:srgbClr val="E8ECF1"/>
                </a:solidFill>
                <a:latin typeface="Calibri"/>
              </a:rPr>
              <a:t>Success criterion 1: zero collisions.</a:t>
            </a:r>
          </a:p>
          <a:p>
            <a:pPr>
              <a:spcAft>
                <a:spcPts val="600"/>
              </a:spcAft>
            </a:pPr>
            <a:r>
              <a:rPr sz="1200" b="0">
                <a:solidFill>
                  <a:srgbClr val="E8ECF1"/>
                </a:solidFill>
                <a:latin typeface="Calibri"/>
              </a:rPr>
              <a:t>Success criterion 2: at least 20 percent reduction in task completion time versus a stop-and-wait baseline.</a:t>
            </a:r>
          </a:p>
        </p:txBody>
      </p:sp>
      <p:sp>
        <p:nvSpPr>
          <p:cNvPr id="5" name="Rounded Rectangle 4"/>
          <p:cNvSpPr/>
          <p:nvPr/>
        </p:nvSpPr>
        <p:spPr>
          <a:xfrm>
            <a:off x="6263640" y="1234440"/>
            <a:ext cx="5394960" cy="457200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4FB3A6"/>
                </a:solidFill>
                <a:latin typeface="Calibri"/>
              </a:rPr>
              <a:t>What that means technically</a:t>
            </a:r>
          </a:p>
          <a:p>
            <a:pPr>
              <a:spcAft>
                <a:spcPts val="600"/>
              </a:spcAft>
            </a:pPr>
            <a:r>
              <a:rPr sz="1200" b="0">
                <a:solidFill>
                  <a:srgbClr val="E8ECF1"/>
                </a:solidFill>
                <a:latin typeface="Calibri"/>
              </a:rPr>
              <a:t>No central arbiter in the safety path. Each robot decides using only what it can hear inside a 15 m radio horizon.</a:t>
            </a:r>
          </a:p>
          <a:p>
            <a:pPr>
              <a:spcAft>
                <a:spcPts val="600"/>
              </a:spcAft>
            </a:pPr>
            <a:r>
              <a:rPr sz="1200" b="0">
                <a:solidFill>
                  <a:srgbClr val="E8ECF1"/>
                </a:solidFill>
                <a:latin typeface="Calibri"/>
              </a:rPr>
              <a:t>Message cost must scale with local density, not fleet size - O(k) per robot per tick, not O(n).</a:t>
            </a:r>
          </a:p>
          <a:p>
            <a:pPr>
              <a:spcAft>
                <a:spcPts val="600"/>
              </a:spcAft>
            </a:pPr>
            <a:r>
              <a:rPr sz="1200" b="0">
                <a:solidFill>
                  <a:srgbClr val="E8ECF1"/>
                </a:solidFill>
                <a:latin typeface="Calibri"/>
              </a:rPr>
              <a:t>Safety must hold under partial information, stale peers, a lying robot, and a robot that has gone completely deaf.</a:t>
            </a:r>
          </a:p>
          <a:p>
            <a:pPr>
              <a:spcAft>
                <a:spcPts val="600"/>
              </a:spcAft>
            </a:pPr>
            <a:r>
              <a:rPr sz="1200" b="0">
                <a:solidFill>
                  <a:srgbClr val="E8ECF1"/>
                </a:solidFill>
                <a:latin typeface="Calibri"/>
              </a:rPr>
              <a:t>Every claim must be reproducible on demand, from a seed.</a:t>
            </a:r>
          </a:p>
        </p:txBody>
      </p:sp>
      <p:sp>
        <p:nvSpPr>
          <p:cNvPr id="6" name="Rounded Rectangle 5"/>
          <p:cNvSpPr/>
          <p:nvPr/>
        </p:nvSpPr>
        <p:spPr>
          <a:xfrm>
            <a:off x="502920" y="5989320"/>
            <a:ext cx="11155680" cy="566928"/>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We treat C1 as a hard invariant enforced in code, and C2 as a measurement - reported below exactly as it came 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What SWARMOS is</a:t>
            </a:r>
          </a:p>
          <a:p>
            <a:pPr>
              <a:spcAft>
                <a:spcPts val="400"/>
              </a:spcAft>
            </a:pPr>
            <a:r>
              <a:rPr sz="1300" b="0">
                <a:solidFill>
                  <a:srgbClr val="93A1B2"/>
                </a:solidFill>
                <a:latin typeface="Calibri"/>
              </a:rPr>
              <a:t>A decentralised coordination stack plus the simulator and control centre needed to prove it</a:t>
            </a:r>
          </a:p>
        </p:txBody>
      </p:sp>
      <p:sp>
        <p:nvSpPr>
          <p:cNvPr id="4" name="TextBox 3"/>
          <p:cNvSpPr txBox="1"/>
          <p:nvPr/>
        </p:nvSpPr>
        <p:spPr>
          <a:xfrm>
            <a:off x="502920" y="1325880"/>
            <a:ext cx="11155680" cy="5120640"/>
          </a:xfrm>
          <a:prstGeom prst="rect">
            <a:avLst/>
          </a:prstGeom>
          <a:noFill/>
        </p:spPr>
        <p:txBody>
          <a:bodyPr wrap="square">
            <a:spAutoFit/>
          </a:bodyPr>
          <a:lstStyle/>
          <a:p>
            <a:pPr>
              <a:spcAft>
                <a:spcPts val="1400"/>
              </a:spcAft>
            </a:pPr>
            <a:r>
              <a:rPr sz="1500" b="0">
                <a:solidFill>
                  <a:srgbClr val="E8ECF1"/>
                </a:solidFill>
                <a:latin typeface="Calibri"/>
              </a:rPr>
              <a:t>SWARMOS is not a path planner with a dashboard on top. It is a four-layer runtime-assurance architecture in which the safety layer is the smallest, simplest and most heavily tested part of the system.</a:t>
            </a:r>
          </a:p>
          <a:p>
            <a:pPr>
              <a:spcAft>
                <a:spcPts val="1400"/>
              </a:spcAft>
            </a:pPr>
            <a:r>
              <a:rPr sz="1500" b="0">
                <a:solidFill>
                  <a:srgbClr val="E8ECF1"/>
                </a:solidFill>
                <a:latin typeface="Calibri"/>
              </a:rPr>
              <a:t>Each robot runs an autonomous agent: it plans, it bids for tasks in a Contract Net auction, it negotiates corridor reservations with whoever it can hear, and it is overruled by a geometric monitor it cannot argue with.</a:t>
            </a:r>
          </a:p>
          <a:p>
            <a:pPr>
              <a:spcAft>
                <a:spcPts val="1400"/>
              </a:spcAft>
            </a:pPr>
            <a:r>
              <a:rPr sz="1500" b="0">
                <a:solidFill>
                  <a:srgbClr val="E8ECF1"/>
                </a:solidFill>
                <a:latin typeface="Calibri"/>
              </a:rPr>
              <a:t>The simulator is the authoritative world. There is exactly one source of robot state, so the UI, the analytics and the coordination layer can never disagree about where a robot is.</a:t>
            </a:r>
          </a:p>
          <a:p>
            <a:pPr>
              <a:spcAft>
                <a:spcPts val="1400"/>
              </a:spcAft>
            </a:pPr>
            <a:r>
              <a:rPr sz="1500" b="0">
                <a:solidFill>
                  <a:srgbClr val="E8ECF1"/>
                </a:solidFill>
                <a:latin typeface="Calibri"/>
              </a:rPr>
              <a:t>Everything is deterministic from a seed. A run is identified by a trace hash, so any behaviour a judge sees can be replayed exactly, including behaviour under a degraded radio.</a:t>
            </a:r>
          </a:p>
        </p:txBody>
      </p:sp>
      <p:sp>
        <p:nvSpPr>
          <p:cNvPr id="5" name="Rounded Rectangle 4"/>
          <p:cNvSpPr/>
          <p:nvPr/>
        </p:nvSpPr>
        <p:spPr>
          <a:xfrm>
            <a:off x="502920" y="4480560"/>
            <a:ext cx="2617470" cy="128016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B9EFF"/>
                </a:solidFill>
                <a:latin typeface="Calibri"/>
              </a:rPr>
              <a:t>24k+</a:t>
            </a:r>
          </a:p>
          <a:p>
            <a:pPr>
              <a:spcAft>
                <a:spcPts val="400"/>
              </a:spcAft>
            </a:pPr>
            <a:r>
              <a:rPr sz="1100" b="0">
                <a:solidFill>
                  <a:srgbClr val="93A1B2"/>
                </a:solidFill>
                <a:latin typeface="Calibri"/>
              </a:rPr>
              <a:t>lines of application code</a:t>
            </a:r>
          </a:p>
        </p:txBody>
      </p:sp>
      <p:sp>
        <p:nvSpPr>
          <p:cNvPr id="6" name="Rounded Rectangle 5"/>
          <p:cNvSpPr/>
          <p:nvPr/>
        </p:nvSpPr>
        <p:spPr>
          <a:xfrm>
            <a:off x="3348989" y="4480560"/>
            <a:ext cx="2617470" cy="128016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F2B137"/>
                </a:solidFill>
                <a:latin typeface="Calibri"/>
              </a:rPr>
              <a:t>3</a:t>
            </a:r>
          </a:p>
          <a:p>
            <a:pPr>
              <a:spcAft>
                <a:spcPts val="400"/>
              </a:spcAft>
            </a:pPr>
            <a:r>
              <a:rPr sz="1100" b="0">
                <a:solidFill>
                  <a:srgbClr val="93A1B2"/>
                </a:solidFill>
                <a:latin typeface="Calibri"/>
              </a:rPr>
              <a:t>adversarial scenarios</a:t>
            </a:r>
          </a:p>
        </p:txBody>
      </p:sp>
      <p:sp>
        <p:nvSpPr>
          <p:cNvPr id="7" name="Rounded Rectangle 6"/>
          <p:cNvSpPr/>
          <p:nvPr/>
        </p:nvSpPr>
        <p:spPr>
          <a:xfrm>
            <a:off x="6195059" y="4480560"/>
            <a:ext cx="2617470" cy="128016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4FB3A6"/>
                </a:solidFill>
                <a:latin typeface="Calibri"/>
              </a:rPr>
              <a:t>15 m</a:t>
            </a:r>
          </a:p>
          <a:p>
            <a:pPr>
              <a:spcAft>
                <a:spcPts val="400"/>
              </a:spcAft>
            </a:pPr>
            <a:r>
              <a:rPr sz="1100" b="0">
                <a:solidFill>
                  <a:srgbClr val="93A1B2"/>
                </a:solidFill>
                <a:latin typeface="Calibri"/>
              </a:rPr>
              <a:t>radio horizon, enforced</a:t>
            </a:r>
          </a:p>
        </p:txBody>
      </p:sp>
      <p:sp>
        <p:nvSpPr>
          <p:cNvPr id="8" name="Rounded Rectangle 7"/>
          <p:cNvSpPr/>
          <p:nvPr/>
        </p:nvSpPr>
        <p:spPr>
          <a:xfrm>
            <a:off x="9041130" y="4480560"/>
            <a:ext cx="2617470" cy="128016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10 Hz</a:t>
            </a:r>
          </a:p>
          <a:p>
            <a:pPr>
              <a:spcAft>
                <a:spcPts val="400"/>
              </a:spcAft>
            </a:pPr>
            <a:r>
              <a:rPr sz="1100" b="0">
                <a:solidFill>
                  <a:srgbClr val="93A1B2"/>
                </a:solidFill>
                <a:latin typeface="Calibri"/>
              </a:rPr>
              <a:t>control 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Four architectural laws</a:t>
            </a:r>
          </a:p>
          <a:p>
            <a:pPr>
              <a:spcAft>
                <a:spcPts val="400"/>
              </a:spcAft>
            </a:pPr>
            <a:r>
              <a:rPr sz="1300" b="0">
                <a:solidFill>
                  <a:srgbClr val="93A1B2"/>
                </a:solidFill>
                <a:latin typeface="Calibri"/>
              </a:rPr>
              <a:t>Non-negotiable. Every module is written to obey these, and tests enforce them structurally.</a:t>
            </a:r>
          </a:p>
        </p:txBody>
      </p:sp>
      <p:graphicFrame>
        <p:nvGraphicFramePr>
          <p:cNvPr id="4" name="Table 3"/>
          <p:cNvGraphicFramePr>
            <a:graphicFrameLocks noGrp="1"/>
          </p:cNvGraphicFramePr>
          <p:nvPr/>
        </p:nvGraphicFramePr>
        <p:xfrm>
          <a:off x="502920" y="1371600"/>
          <a:ext cx="11155680" cy="1463040"/>
        </p:xfrm>
        <a:graphic>
          <a:graphicData uri="http://schemas.openxmlformats.org/drawingml/2006/table">
            <a:tbl>
              <a:tblPr firstRow="1" bandRow="1">
                <a:tableStyleId>{5C22544A-7EE6-4342-B048-85BDC9FD1C3A}</a:tableStyleId>
              </a:tblPr>
              <a:tblGrid>
                <a:gridCol w="548640"/>
                <a:gridCol w="4023360"/>
                <a:gridCol w="6583680"/>
              </a:tblGrid>
              <a:tr h="292608">
                <a:tc>
                  <a:txBody>
                    <a:bodyPr/>
                    <a:lstStyle/>
                    <a:p/>
                  </a:txBody>
                  <a:tcPr>
                    <a:solidFill>
                      <a:srgbClr val="1B212A"/>
                    </a:solidFill>
                  </a:tcPr>
                </a:tc>
                <a:tc>
                  <a:txBody>
                    <a:bodyPr/>
                    <a:lstStyle/>
                    <a:p>
                      <a:r>
                        <a:rPr sz="1200" b="1">
                          <a:solidFill>
                            <a:srgbClr val="3B9EFF"/>
                          </a:solidFill>
                        </a:rPr>
                        <a:t>Law</a:t>
                      </a:r>
                    </a:p>
                  </a:txBody>
                  <a:tcPr>
                    <a:solidFill>
                      <a:srgbClr val="1B212A"/>
                    </a:solidFill>
                  </a:tcPr>
                </a:tc>
                <a:tc>
                  <a:txBody>
                    <a:bodyPr/>
                    <a:lstStyle/>
                    <a:p>
                      <a:r>
                        <a:rPr sz="1200" b="1">
                          <a:solidFill>
                            <a:srgbClr val="3B9EFF"/>
                          </a:solidFill>
                        </a:rPr>
                        <a:t>How it is held</a:t>
                      </a:r>
                    </a:p>
                  </a:txBody>
                  <a:tcPr>
                    <a:solidFill>
                      <a:srgbClr val="1B212A"/>
                    </a:solidFill>
                  </a:tcPr>
                </a:tc>
              </a:tr>
              <a:tr h="292608">
                <a:tc>
                  <a:txBody>
                    <a:bodyPr/>
                    <a:lstStyle/>
                    <a:p>
                      <a:r>
                        <a:rPr sz="1200">
                          <a:solidFill>
                            <a:srgbClr val="E8ECF1"/>
                          </a:solidFill>
                        </a:rPr>
                        <a:t>L1</a:t>
                      </a:r>
                    </a:p>
                  </a:txBody>
                  <a:tcPr>
                    <a:solidFill>
                      <a:srgbClr val="12161C"/>
                    </a:solidFill>
                  </a:tcPr>
                </a:tc>
                <a:tc>
                  <a:txBody>
                    <a:bodyPr/>
                    <a:lstStyle/>
                    <a:p>
                      <a:r>
                        <a:rPr sz="1200">
                          <a:solidFill>
                            <a:srgbClr val="E8ECF1"/>
                          </a:solidFill>
                        </a:rPr>
                        <a:t>The simulation is the single authoritative source of robot state</a:t>
                      </a:r>
                    </a:p>
                  </a:txBody>
                  <a:tcPr>
                    <a:solidFill>
                      <a:srgbClr val="12161C"/>
                    </a:solidFill>
                  </a:tcPr>
                </a:tc>
                <a:tc>
                  <a:txBody>
                    <a:bodyPr/>
                    <a:lstStyle/>
                    <a:p>
                      <a:r>
                        <a:rPr sz="1200">
                          <a:solidFill>
                            <a:srgbClr val="E8ECF1"/>
                          </a:solidFill>
                        </a:rPr>
                        <a:t>No module keeps a private copy of a pose. UI, analytics and coordination all read the same frame.</a:t>
                      </a:r>
                    </a:p>
                  </a:txBody>
                  <a:tcPr>
                    <a:solidFill>
                      <a:srgbClr val="12161C"/>
                    </a:solidFill>
                  </a:tcPr>
                </a:tc>
              </a:tr>
              <a:tr h="292608">
                <a:tc>
                  <a:txBody>
                    <a:bodyPr/>
                    <a:lstStyle/>
                    <a:p>
                      <a:r>
                        <a:rPr sz="1200">
                          <a:solidFill>
                            <a:srgbClr val="E8ECF1"/>
                          </a:solidFill>
                        </a:rPr>
                        <a:t>L2</a:t>
                      </a:r>
                    </a:p>
                  </a:txBody>
                  <a:tcPr>
                    <a:solidFill>
                      <a:srgbClr val="1B212A"/>
                    </a:solidFill>
                  </a:tcPr>
                </a:tc>
                <a:tc>
                  <a:txBody>
                    <a:bodyPr/>
                    <a:lstStyle/>
                    <a:p>
                      <a:r>
                        <a:rPr sz="1200">
                          <a:solidFill>
                            <a:srgbClr val="E8ECF1"/>
                          </a:solidFill>
                        </a:rPr>
                        <a:t>Coordination is the binding safety arbiter; its verdict is final</a:t>
                      </a:r>
                    </a:p>
                  </a:txBody>
                  <a:tcPr>
                    <a:solidFill>
                      <a:srgbClr val="1B212A"/>
                    </a:solidFill>
                  </a:tcPr>
                </a:tc>
                <a:tc>
                  <a:txBody>
                    <a:bodyPr/>
                    <a:lstStyle/>
                    <a:p>
                      <a:r>
                        <a:rPr sz="1200">
                          <a:solidFill>
                            <a:srgbClr val="E8ECF1"/>
                          </a:solidFill>
                        </a:rPr>
                        <a:t>The planner proposes. The arbiter disposes. The geometric monitor sits beneath both and can stop anyone.</a:t>
                      </a:r>
                    </a:p>
                  </a:txBody>
                  <a:tcPr>
                    <a:solidFill>
                      <a:srgbClr val="1B212A"/>
                    </a:solidFill>
                  </a:tcPr>
                </a:tc>
              </a:tr>
              <a:tr h="292608">
                <a:tc>
                  <a:txBody>
                    <a:bodyPr/>
                    <a:lstStyle/>
                    <a:p>
                      <a:r>
                        <a:rPr sz="1200">
                          <a:solidFill>
                            <a:srgbClr val="E8ECF1"/>
                          </a:solidFill>
                        </a:rPr>
                        <a:t>L3</a:t>
                      </a:r>
                    </a:p>
                  </a:txBody>
                  <a:tcPr>
                    <a:solidFill>
                      <a:srgbClr val="12161C"/>
                    </a:solidFill>
                  </a:tcPr>
                </a:tc>
                <a:tc>
                  <a:txBody>
                    <a:bodyPr/>
                    <a:lstStyle/>
                    <a:p>
                      <a:r>
                        <a:rPr sz="1200">
                          <a:solidFill>
                            <a:srgbClr val="E8ECF1"/>
                          </a:solidFill>
                        </a:rPr>
                        <a:t>Machine learning is advisory only, never in the safety path</a:t>
                      </a:r>
                    </a:p>
                  </a:txBody>
                  <a:tcPr>
                    <a:solidFill>
                      <a:srgbClr val="12161C"/>
                    </a:solidFill>
                  </a:tcPr>
                </a:tc>
                <a:tc>
                  <a:txBody>
                    <a:bodyPr/>
                    <a:lstStyle/>
                    <a:p>
                      <a:r>
                        <a:rPr sz="1200">
                          <a:solidFill>
                            <a:srgbClr val="E8ECF1"/>
                          </a:solidFill>
                        </a:rPr>
                        <a:t>Enforced by an AST test that fails the build if any coordination module imports app.ml.</a:t>
                      </a:r>
                    </a:p>
                  </a:txBody>
                  <a:tcPr>
                    <a:solidFill>
                      <a:srgbClr val="12161C"/>
                    </a:solidFill>
                  </a:tcPr>
                </a:tc>
              </a:tr>
              <a:tr h="292608">
                <a:tc>
                  <a:txBody>
                    <a:bodyPr/>
                    <a:lstStyle/>
                    <a:p>
                      <a:r>
                        <a:rPr sz="1200">
                          <a:solidFill>
                            <a:srgbClr val="E8ECF1"/>
                          </a:solidFill>
                        </a:rPr>
                        <a:t>L4</a:t>
                      </a:r>
                    </a:p>
                  </a:txBody>
                  <a:tcPr>
                    <a:solidFill>
                      <a:srgbClr val="1B212A"/>
                    </a:solidFill>
                  </a:tcPr>
                </a:tc>
                <a:tc>
                  <a:txBody>
                    <a:bodyPr/>
                    <a:lstStyle/>
                    <a:p>
                      <a:r>
                        <a:rPr sz="1200">
                          <a:solidFill>
                            <a:srgbClr val="E8ECF1"/>
                          </a:solidFill>
                        </a:rPr>
                        <a:t>One canonical model per concept</a:t>
                      </a:r>
                    </a:p>
                  </a:txBody>
                  <a:tcPr>
                    <a:solidFill>
                      <a:srgbClr val="1B212A"/>
                    </a:solidFill>
                  </a:tcPr>
                </a:tc>
                <a:tc>
                  <a:txBody>
                    <a:bodyPr/>
                    <a:lstStyle/>
                    <a:p>
                      <a:r>
                        <a:rPr sz="1200">
                          <a:solidFill>
                            <a:srgbClr val="E8ECF1"/>
                          </a:solidFill>
                        </a:rPr>
                        <a:t>All shared types live in app/coordination/models.py. There is no second definition of a robot state anywhere.</a:t>
                      </a:r>
                    </a:p>
                  </a:txBody>
                  <a:tcPr>
                    <a:solidFill>
                      <a:srgbClr val="1B212A"/>
                    </a:solidFill>
                  </a:tcPr>
                </a:tc>
              </a:tr>
            </a:tbl>
          </a:graphicData>
        </a:graphic>
      </p:graphicFrame>
      <p:sp>
        <p:nvSpPr>
          <p:cNvPr id="5" name="Rounded Rectangle 4"/>
          <p:cNvSpPr/>
          <p:nvPr/>
        </p:nvSpPr>
        <p:spPr>
          <a:xfrm>
            <a:off x="502920" y="5394960"/>
            <a:ext cx="11155680" cy="566928"/>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L3 is the one people ask about. We measured our forecaster against a persistence baseline, it lost by roughly 4x, and so it stayed advisory. See the X-05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System architecture</a:t>
            </a:r>
          </a:p>
          <a:p>
            <a:pPr>
              <a:spcAft>
                <a:spcPts val="400"/>
              </a:spcAft>
            </a:pPr>
            <a:r>
              <a:rPr sz="1300" b="0">
                <a:solidFill>
                  <a:srgbClr val="93A1B2"/>
                </a:solidFill>
                <a:latin typeface="Calibri"/>
              </a:rPr>
              <a:t>Six modules, one direction of authority</a:t>
            </a:r>
          </a:p>
        </p:txBody>
      </p:sp>
      <p:sp>
        <p:nvSpPr>
          <p:cNvPr id="4" name="Rounded Rectangle 3"/>
          <p:cNvSpPr/>
          <p:nvPr/>
        </p:nvSpPr>
        <p:spPr>
          <a:xfrm>
            <a:off x="502920" y="1600200"/>
            <a:ext cx="2555748" cy="155448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4FB3A6"/>
                </a:solidFill>
                <a:latin typeface="Calibri"/>
              </a:rPr>
              <a:t>M5 Simulation</a:t>
            </a:r>
          </a:p>
          <a:p>
            <a:pPr>
              <a:spcAft>
                <a:spcPts val="400"/>
              </a:spcAft>
            </a:pPr>
            <a:r>
              <a:rPr sz="1000" b="0">
                <a:solidFill>
                  <a:srgbClr val="93A1B2"/>
                </a:solidFill>
                <a:latin typeface="Calibri"/>
              </a:rPr>
              <a:t>Authoritative world. Physics, tasks, faults, batteries. 10 Hz.</a:t>
            </a:r>
          </a:p>
        </p:txBody>
      </p:sp>
      <p:sp>
        <p:nvSpPr>
          <p:cNvPr id="5" name="TextBox 4"/>
          <p:cNvSpPr txBox="1"/>
          <p:nvPr/>
        </p:nvSpPr>
        <p:spPr>
          <a:xfrm>
            <a:off x="3076956" y="2176272"/>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6" name="Rounded Rectangle 5"/>
          <p:cNvSpPr/>
          <p:nvPr/>
        </p:nvSpPr>
        <p:spPr>
          <a:xfrm>
            <a:off x="3369563" y="1600200"/>
            <a:ext cx="2555748" cy="155448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F2B137"/>
                </a:solidFill>
                <a:latin typeface="Calibri"/>
              </a:rPr>
              <a:t>M4 Coordination</a:t>
            </a:r>
          </a:p>
          <a:p>
            <a:pPr>
              <a:spcAft>
                <a:spcPts val="400"/>
              </a:spcAft>
            </a:pPr>
            <a:r>
              <a:rPr sz="1000" b="0">
                <a:solidFill>
                  <a:srgbClr val="93A1B2"/>
                </a:solidFill>
                <a:latin typeface="Calibri"/>
              </a:rPr>
              <a:t>Auction, reservations, arbiter, monitor. Binding verdicts.</a:t>
            </a:r>
          </a:p>
        </p:txBody>
      </p:sp>
      <p:sp>
        <p:nvSpPr>
          <p:cNvPr id="7" name="TextBox 6"/>
          <p:cNvSpPr txBox="1"/>
          <p:nvPr/>
        </p:nvSpPr>
        <p:spPr>
          <a:xfrm>
            <a:off x="5943599" y="2176272"/>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8" name="Rounded Rectangle 7"/>
          <p:cNvSpPr/>
          <p:nvPr/>
        </p:nvSpPr>
        <p:spPr>
          <a:xfrm>
            <a:off x="6236207" y="1600200"/>
            <a:ext cx="2555748" cy="155448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35C78A"/>
                </a:solidFill>
                <a:latin typeface="Calibri"/>
              </a:rPr>
              <a:t>M2 Backend</a:t>
            </a:r>
          </a:p>
          <a:p>
            <a:pPr>
              <a:spcAft>
                <a:spcPts val="400"/>
              </a:spcAft>
            </a:pPr>
            <a:r>
              <a:rPr sz="1000" b="0">
                <a:solidFill>
                  <a:srgbClr val="93A1B2"/>
                </a:solidFill>
                <a:latin typeface="Calibri"/>
              </a:rPr>
              <a:t>Starlette. REST control plane, WebSocket data plane.</a:t>
            </a:r>
          </a:p>
        </p:txBody>
      </p:sp>
      <p:sp>
        <p:nvSpPr>
          <p:cNvPr id="9" name="TextBox 8"/>
          <p:cNvSpPr txBox="1"/>
          <p:nvPr/>
        </p:nvSpPr>
        <p:spPr>
          <a:xfrm>
            <a:off x="8810243" y="2176272"/>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0" name="Rounded Rectangle 9"/>
          <p:cNvSpPr/>
          <p:nvPr/>
        </p:nvSpPr>
        <p:spPr>
          <a:xfrm>
            <a:off x="9102852" y="1600200"/>
            <a:ext cx="2555748" cy="155448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3B9EFF"/>
                </a:solidFill>
                <a:latin typeface="Calibri"/>
              </a:rPr>
              <a:t>M1 Frontend</a:t>
            </a:r>
          </a:p>
          <a:p>
            <a:pPr>
              <a:spcAft>
                <a:spcPts val="400"/>
              </a:spcAft>
            </a:pPr>
            <a:r>
              <a:rPr sz="1000" b="0">
                <a:solidFill>
                  <a:srgbClr val="93A1B2"/>
                </a:solidFill>
                <a:latin typeface="Calibri"/>
              </a:rPr>
              <a:t>Vanilla JS + Canvas control centre. No framework.</a:t>
            </a:r>
          </a:p>
        </p:txBody>
      </p:sp>
      <p:sp>
        <p:nvSpPr>
          <p:cNvPr id="11" name="Rounded Rectangle 10"/>
          <p:cNvSpPr/>
          <p:nvPr/>
        </p:nvSpPr>
        <p:spPr>
          <a:xfrm>
            <a:off x="502920" y="3611880"/>
            <a:ext cx="5422392" cy="1554480"/>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A97BFF"/>
                </a:solidFill>
                <a:latin typeface="Calibri"/>
              </a:rPr>
              <a:t>M3 ML / Edge-AI</a:t>
            </a:r>
          </a:p>
          <a:p>
            <a:pPr>
              <a:spcAft>
                <a:spcPts val="400"/>
              </a:spcAft>
            </a:pPr>
            <a:r>
              <a:rPr sz="1000" b="0">
                <a:solidFill>
                  <a:srgbClr val="93A1B2"/>
                </a:solidFill>
                <a:latin typeface="Calibri"/>
              </a:rPr>
              <a:t>Demand forecasting, anomaly hints. Advisory, fenced out of the safety path.</a:t>
            </a:r>
          </a:p>
        </p:txBody>
      </p:sp>
      <p:sp>
        <p:nvSpPr>
          <p:cNvPr id="12" name="TextBox 11"/>
          <p:cNvSpPr txBox="1"/>
          <p:nvPr/>
        </p:nvSpPr>
        <p:spPr>
          <a:xfrm>
            <a:off x="5943599" y="4187952"/>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3" name="Rounded Rectangle 12"/>
          <p:cNvSpPr/>
          <p:nvPr/>
        </p:nvSpPr>
        <p:spPr>
          <a:xfrm>
            <a:off x="6236207" y="3611880"/>
            <a:ext cx="5422392" cy="1554480"/>
          </a:xfrm>
          <a:prstGeom prst="roundRect">
            <a:avLst/>
          </a:prstGeom>
          <a:solidFill>
            <a:srgbClr val="1B212A"/>
          </a:solidFill>
          <a:ln w="15875">
            <a:solidFill>
              <a:srgbClr val="FF8A65"/>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FF8A65"/>
                </a:solidFill>
                <a:latin typeface="Calibri"/>
              </a:rPr>
              <a:t>M6 Database / Analytics</a:t>
            </a:r>
          </a:p>
          <a:p>
            <a:pPr>
              <a:spcAft>
                <a:spcPts val="400"/>
              </a:spcAft>
            </a:pPr>
            <a:r>
              <a:rPr sz="1000" b="0">
                <a:solidFill>
                  <a:srgbClr val="93A1B2"/>
                </a:solidFill>
                <a:latin typeface="Calibri"/>
              </a:rPr>
              <a:t>SQLite event store, KPI rollups, replay by trace hash.</a:t>
            </a:r>
          </a:p>
        </p:txBody>
      </p:sp>
      <p:sp>
        <p:nvSpPr>
          <p:cNvPr id="14" name="Rounded Rectangle 13"/>
          <p:cNvSpPr/>
          <p:nvPr/>
        </p:nvSpPr>
        <p:spPr>
          <a:xfrm>
            <a:off x="502920" y="5577840"/>
            <a:ext cx="11155680" cy="566928"/>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Authority flows left to right along the top row only. M3 and M6 observe and advise; neither can move a robot.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Frozen conventions</a:t>
            </a:r>
          </a:p>
          <a:p>
            <a:pPr>
              <a:spcAft>
                <a:spcPts val="400"/>
              </a:spcAft>
            </a:pPr>
            <a:r>
              <a:rPr sz="1300" b="0">
                <a:solidFill>
                  <a:srgbClr val="93A1B2"/>
                </a:solidFill>
                <a:latin typeface="Calibri"/>
              </a:rPr>
              <a:t>Agreed once, then never renegotiated - this is why six modules integrate without translation layers</a:t>
            </a:r>
          </a:p>
        </p:txBody>
      </p:sp>
      <p:graphicFrame>
        <p:nvGraphicFramePr>
          <p:cNvPr id="4" name="Table 3"/>
          <p:cNvGraphicFramePr>
            <a:graphicFrameLocks noGrp="1"/>
          </p:cNvGraphicFramePr>
          <p:nvPr/>
        </p:nvGraphicFramePr>
        <p:xfrm>
          <a:off x="502920" y="1325880"/>
          <a:ext cx="11155680" cy="2633472"/>
        </p:xfrm>
        <a:graphic>
          <a:graphicData uri="http://schemas.openxmlformats.org/drawingml/2006/table">
            <a:tbl>
              <a:tblPr firstRow="1" bandRow="1">
                <a:tableStyleId>{5C22544A-7EE6-4342-B048-85BDC9FD1C3A}</a:tableStyleId>
              </a:tblPr>
              <a:tblGrid>
                <a:gridCol w="2377440"/>
                <a:gridCol w="8778240"/>
              </a:tblGrid>
              <a:tr h="292608">
                <a:tc>
                  <a:txBody>
                    <a:bodyPr/>
                    <a:lstStyle/>
                    <a:p>
                      <a:r>
                        <a:rPr sz="1200" b="1">
                          <a:solidFill>
                            <a:srgbClr val="3B9EFF"/>
                          </a:solidFill>
                        </a:rPr>
                        <a:t>Domain</a:t>
                      </a:r>
                    </a:p>
                  </a:txBody>
                  <a:tcPr>
                    <a:solidFill>
                      <a:srgbClr val="1B212A"/>
                    </a:solidFill>
                  </a:tcPr>
                </a:tc>
                <a:tc>
                  <a:txBody>
                    <a:bodyPr/>
                    <a:lstStyle/>
                    <a:p>
                      <a:r>
                        <a:rPr sz="1200" b="1">
                          <a:solidFill>
                            <a:srgbClr val="3B9EFF"/>
                          </a:solidFill>
                        </a:rPr>
                        <a:t>Convention</a:t>
                      </a:r>
                    </a:p>
                  </a:txBody>
                  <a:tcPr>
                    <a:solidFill>
                      <a:srgbClr val="1B212A"/>
                    </a:solidFill>
                  </a:tcPr>
                </a:tc>
              </a:tr>
              <a:tr h="292608">
                <a:tc>
                  <a:txBody>
                    <a:bodyPr/>
                    <a:lstStyle/>
                    <a:p>
                      <a:r>
                        <a:rPr sz="1200">
                          <a:solidFill>
                            <a:srgbClr val="E8ECF1"/>
                          </a:solidFill>
                        </a:rPr>
                        <a:t>Space</a:t>
                      </a:r>
                    </a:p>
                  </a:txBody>
                  <a:tcPr>
                    <a:solidFill>
                      <a:srgbClr val="12161C"/>
                    </a:solidFill>
                  </a:tcPr>
                </a:tc>
                <a:tc>
                  <a:txBody>
                    <a:bodyPr/>
                    <a:lstStyle/>
                    <a:p>
                      <a:r>
                        <a:rPr sz="1200">
                          <a:solidFill>
                            <a:srgbClr val="E8ECF1"/>
                          </a:solidFill>
                        </a:rPr>
                        <a:t>Continuous 2-D metres. Aisle pitch 1.0 m, robot radius 0.35 m, so a passing pair needs 0.70 m of the 1.0 m aisle.</a:t>
                      </a:r>
                    </a:p>
                  </a:txBody>
                  <a:tcPr>
                    <a:solidFill>
                      <a:srgbClr val="12161C"/>
                    </a:solidFill>
                  </a:tcPr>
                </a:tc>
              </a:tr>
              <a:tr h="292608">
                <a:tc>
                  <a:txBody>
                    <a:bodyPr/>
                    <a:lstStyle/>
                    <a:p>
                      <a:r>
                        <a:rPr sz="1200">
                          <a:solidFill>
                            <a:srgbClr val="E8ECF1"/>
                          </a:solidFill>
                        </a:rPr>
                        <a:t>Heading</a:t>
                      </a:r>
                    </a:p>
                  </a:txBody>
                  <a:tcPr>
                    <a:solidFill>
                      <a:srgbClr val="1B212A"/>
                    </a:solidFill>
                  </a:tcPr>
                </a:tc>
                <a:tc>
                  <a:txBody>
                    <a:bodyPr/>
                    <a:lstStyle/>
                    <a:p>
                      <a:r>
                        <a:rPr sz="1200">
                          <a:solidFill>
                            <a:srgbClr val="E8ECF1"/>
                          </a:solidFill>
                        </a:rPr>
                        <a:t>Radians in [0, 2pi), 0 = +X, counter-clockwise positive.</a:t>
                      </a:r>
                    </a:p>
                  </a:txBody>
                  <a:tcPr>
                    <a:solidFill>
                      <a:srgbClr val="1B212A"/>
                    </a:solidFill>
                  </a:tcPr>
                </a:tc>
              </a:tr>
              <a:tr h="292608">
                <a:tc>
                  <a:txBody>
                    <a:bodyPr/>
                    <a:lstStyle/>
                    <a:p>
                      <a:r>
                        <a:rPr sz="1200">
                          <a:solidFill>
                            <a:srgbClr val="E8ECF1"/>
                          </a:solidFill>
                        </a:rPr>
                        <a:t>Velocity</a:t>
                      </a:r>
                    </a:p>
                  </a:txBody>
                  <a:tcPr>
                    <a:solidFill>
                      <a:srgbClr val="12161C"/>
                    </a:solidFill>
                  </a:tcPr>
                </a:tc>
                <a:tc>
                  <a:txBody>
                    <a:bodyPr/>
                    <a:lstStyle/>
                    <a:p>
                      <a:r>
                        <a:rPr sz="1200">
                          <a:solidFill>
                            <a:srgbClr val="E8ECF1"/>
                          </a:solidFill>
                        </a:rPr>
                        <a:t>Metres per second, always &gt;= 0. Direction lives in the heading, never in the sign of the speed.</a:t>
                      </a:r>
                    </a:p>
                  </a:txBody>
                  <a:tcPr>
                    <a:solidFill>
                      <a:srgbClr val="12161C"/>
                    </a:solidFill>
                  </a:tcPr>
                </a:tc>
              </a:tr>
              <a:tr h="292608">
                <a:tc>
                  <a:txBody>
                    <a:bodyPr/>
                    <a:lstStyle/>
                    <a:p>
                      <a:r>
                        <a:rPr sz="1200">
                          <a:solidFill>
                            <a:srgbClr val="E8ECF1"/>
                          </a:solidFill>
                        </a:rPr>
                        <a:t>Time</a:t>
                      </a:r>
                    </a:p>
                  </a:txBody>
                  <a:tcPr>
                    <a:solidFill>
                      <a:srgbClr val="1B212A"/>
                    </a:solidFill>
                  </a:tcPr>
                </a:tc>
                <a:tc>
                  <a:txBody>
                    <a:bodyPr/>
                    <a:lstStyle/>
                    <a:p>
                      <a:r>
                        <a:rPr sz="1200">
                          <a:solidFill>
                            <a:srgbClr val="E8ECF1"/>
                          </a:solidFill>
                        </a:rPr>
                        <a:t>Tick rate 10 Hz. 100 ms is a hard budget, not a target.</a:t>
                      </a:r>
                    </a:p>
                  </a:txBody>
                  <a:tcPr>
                    <a:solidFill>
                      <a:srgbClr val="1B212A"/>
                    </a:solidFill>
                  </a:tcPr>
                </a:tc>
              </a:tr>
              <a:tr h="292608">
                <a:tc>
                  <a:txBody>
                    <a:bodyPr/>
                    <a:lstStyle/>
                    <a:p>
                      <a:r>
                        <a:rPr sz="1200">
                          <a:solidFill>
                            <a:srgbClr val="E8ECF1"/>
                          </a:solidFill>
                        </a:rPr>
                        <a:t>Identity</a:t>
                      </a:r>
                    </a:p>
                  </a:txBody>
                  <a:tcPr>
                    <a:solidFill>
                      <a:srgbClr val="12161C"/>
                    </a:solidFill>
                  </a:tcPr>
                </a:tc>
                <a:tc>
                  <a:txBody>
                    <a:bodyPr/>
                    <a:lstStyle/>
                    <a:p>
                      <a:r>
                        <a:rPr sz="1200">
                          <a:solidFill>
                            <a:srgbClr val="E8ECF1"/>
                          </a:solidFill>
                        </a:rPr>
                        <a:t>Robots R###, tasks T###. Zero-padded so lexical order is numeric order, which is what makes tie-breaks total.</a:t>
                      </a:r>
                    </a:p>
                  </a:txBody>
                  <a:tcPr>
                    <a:solidFill>
                      <a:srgbClr val="12161C"/>
                    </a:solidFill>
                  </a:tcPr>
                </a:tc>
              </a:tr>
              <a:tr h="292608">
                <a:tc>
                  <a:txBody>
                    <a:bodyPr/>
                    <a:lstStyle/>
                    <a:p>
                      <a:r>
                        <a:rPr sz="1200">
                          <a:solidFill>
                            <a:srgbClr val="E8ECF1"/>
                          </a:solidFill>
                        </a:rPr>
                        <a:t>Radio</a:t>
                      </a:r>
                    </a:p>
                  </a:txBody>
                  <a:tcPr>
                    <a:solidFill>
                      <a:srgbClr val="1B212A"/>
                    </a:solidFill>
                  </a:tcPr>
                </a:tc>
                <a:tc>
                  <a:txBody>
                    <a:bodyPr/>
                    <a:lstStyle/>
                    <a:p>
                      <a:r>
                        <a:rPr sz="1200">
                          <a:solidFill>
                            <a:srgbClr val="E8ECF1"/>
                          </a:solidFill>
                        </a:rPr>
                        <a:t>R_comm 15 m. Heartbeat 10 Hz, suspicion at 200 ms, confirmation at 500 ms.</a:t>
                      </a:r>
                    </a:p>
                  </a:txBody>
                  <a:tcPr>
                    <a:solidFill>
                      <a:srgbClr val="1B212A"/>
                    </a:solidFill>
                  </a:tcPr>
                </a:tc>
              </a:tr>
              <a:tr h="292608">
                <a:tc>
                  <a:txBody>
                    <a:bodyPr/>
                    <a:lstStyle/>
                    <a:p>
                      <a:r>
                        <a:rPr sz="1200">
                          <a:solidFill>
                            <a:srgbClr val="E8ECF1"/>
                          </a:solidFill>
                        </a:rPr>
                        <a:t>Safety geometry</a:t>
                      </a:r>
                    </a:p>
                  </a:txBody>
                  <a:tcPr>
                    <a:solidFill>
                      <a:srgbClr val="12161C"/>
                    </a:solidFill>
                  </a:tcPr>
                </a:tc>
                <a:tc>
                  <a:txBody>
                    <a:bodyPr/>
                    <a:lstStyle/>
                    <a:p>
                      <a:r>
                        <a:rPr sz="1200">
                          <a:solidFill>
                            <a:srgbClr val="E8ECF1"/>
                          </a:solidFill>
                        </a:rPr>
                        <a:t>HARD_STOP 0.75 m, CONFLICT 0.97 m, CAUTION 1.13 m, max step 0.22 m per tick.</a:t>
                      </a:r>
                    </a:p>
                  </a:txBody>
                  <a:tcPr>
                    <a:solidFill>
                      <a:srgbClr val="12161C"/>
                    </a:solidFill>
                  </a:tcPr>
                </a:tc>
              </a:tr>
              <a:tr h="292608">
                <a:tc>
                  <a:txBody>
                    <a:bodyPr/>
                    <a:lstStyle/>
                    <a:p>
                      <a:r>
                        <a:rPr sz="1200">
                          <a:solidFill>
                            <a:srgbClr val="E8ECF1"/>
                          </a:solidFill>
                        </a:rPr>
                        <a:t>Wire format</a:t>
                      </a:r>
                    </a:p>
                  </a:txBody>
                  <a:tcPr>
                    <a:solidFill>
                      <a:srgbClr val="1B212A"/>
                    </a:solidFill>
                  </a:tcPr>
                </a:tc>
                <a:tc>
                  <a:txBody>
                    <a:bodyPr/>
                    <a:lstStyle/>
                    <a:p>
                      <a:r>
                        <a:rPr sz="1200">
                          <a:solidFill>
                            <a:srgbClr val="E8ECF1"/>
                          </a:solidFill>
                        </a:rPr>
                        <a:t>Envelope schema_version 1.0. Missing values are rendered as -- and never as 0.</a:t>
                      </a:r>
                    </a:p>
                  </a:txBody>
                  <a:tcPr>
                    <a:solidFill>
                      <a:srgbClr val="1B212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4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M5 - Simulation</a:t>
            </a:r>
          </a:p>
          <a:p>
            <a:pPr>
              <a:spcAft>
                <a:spcPts val="400"/>
              </a:spcAft>
            </a:pPr>
            <a:r>
              <a:rPr sz="1300" b="0">
                <a:solidFill>
                  <a:srgbClr val="93A1B2"/>
                </a:solidFill>
                <a:latin typeface="Calibri"/>
              </a:rPr>
              <a:t>The authoritative world</a:t>
            </a:r>
          </a:p>
        </p:txBody>
      </p:sp>
      <p:sp>
        <p:nvSpPr>
          <p:cNvPr id="4" name="Rounded Rectangle 3"/>
          <p:cNvSpPr/>
          <p:nvPr/>
        </p:nvSpPr>
        <p:spPr>
          <a:xfrm>
            <a:off x="502920" y="1234440"/>
            <a:ext cx="5394960" cy="457200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4FB3A6"/>
                </a:solidFill>
                <a:latin typeface="Calibri"/>
              </a:rPr>
              <a:t>Specification</a:t>
            </a:r>
          </a:p>
          <a:p>
            <a:pPr>
              <a:spcAft>
                <a:spcPts val="600"/>
              </a:spcAft>
            </a:pPr>
            <a:r>
              <a:rPr sz="1200" b="0">
                <a:solidFill>
                  <a:srgbClr val="E8ECF1"/>
                </a:solidFill>
                <a:latin typeface="Calibri"/>
              </a:rPr>
              <a:t>SimEngine(scenario, seed=, policy=, label=) - one object owns the world. step() advances exactly one 100 ms tick.</a:t>
            </a:r>
          </a:p>
          <a:p>
            <a:pPr>
              <a:spcAft>
                <a:spcPts val="600"/>
              </a:spcAft>
            </a:pPr>
            <a:r>
              <a:rPr sz="1200" b="0">
                <a:solidFill>
                  <a:srgbClr val="E8ECF1"/>
                </a:solidFill>
                <a:latin typeface="Calibri"/>
              </a:rPr>
              <a:t>Three scenarios, all adversarial: rush_50 (fleet 50), narrow_aisle_deadlock (fleet 24), blocked_aisle (fleet 40).</a:t>
            </a:r>
          </a:p>
          <a:p>
            <a:pPr>
              <a:spcAft>
                <a:spcPts val="600"/>
              </a:spcAft>
            </a:pPr>
            <a:r>
              <a:rPr sz="1200" b="0">
                <a:solidFill>
                  <a:srgbClr val="E8ECF1"/>
                </a:solidFill>
                <a:latin typeface="Calibri"/>
              </a:rPr>
              <a:t>Fault injection at runtime: motor stall, radio silence, battery collapse, sensor drift, rogue behaviour.</a:t>
            </a:r>
          </a:p>
          <a:p>
            <a:pPr>
              <a:spcAft>
                <a:spcPts val="600"/>
              </a:spcAft>
            </a:pPr>
            <a:r>
              <a:rPr sz="1200" b="0">
                <a:solidFill>
                  <a:srgbClr val="E8ECF1"/>
                </a:solidFill>
                <a:latin typeface="Calibri"/>
              </a:rPr>
              <a:t>KPIs computed in-engine: collisions, near misses, completion times, SLA misses, compute p50/p95/p99, veto counts.</a:t>
            </a:r>
          </a:p>
        </p:txBody>
      </p:sp>
      <p:sp>
        <p:nvSpPr>
          <p:cNvPr id="5" name="Rounded Rectangle 4"/>
          <p:cNvSpPr/>
          <p:nvPr/>
        </p:nvSpPr>
        <p:spPr>
          <a:xfrm>
            <a:off x="6263640" y="1234440"/>
            <a:ext cx="5394960" cy="4572000"/>
          </a:xfrm>
          <a:prstGeom prst="roundRect">
            <a:avLst/>
          </a:prstGeom>
          <a:solidFill>
            <a:srgbClr val="1B212A"/>
          </a:solidFill>
          <a:ln w="15875">
            <a:solidFill>
              <a:srgbClr val="93A1B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93A1B2"/>
                </a:solidFill>
                <a:latin typeface="Calibri"/>
              </a:rPr>
              <a:t>Why it is built this way</a:t>
            </a:r>
          </a:p>
          <a:p>
            <a:pPr>
              <a:spcAft>
                <a:spcPts val="600"/>
              </a:spcAft>
            </a:pPr>
            <a:r>
              <a:rPr sz="1200" b="0">
                <a:solidFill>
                  <a:srgbClr val="E8ECF1"/>
                </a:solidFill>
                <a:latin typeface="Calibri"/>
              </a:rPr>
              <a:t>Determinism is a feature, not an accident. Every random draw comes from one seeded generator, and iteration is over sorted ids.</a:t>
            </a:r>
          </a:p>
          <a:p>
            <a:pPr>
              <a:spcAft>
                <a:spcPts val="600"/>
              </a:spcAft>
            </a:pPr>
            <a:r>
              <a:rPr sz="1200" b="0">
                <a:solidFill>
                  <a:srgbClr val="E8ECF1"/>
                </a:solidFill>
                <a:latin typeface="Calibri"/>
              </a:rPr>
              <a:t>That gives a trace hash: the same seed produces the same run bit for bit, so a bug seen once can be reproduced forever.</a:t>
            </a:r>
          </a:p>
          <a:p>
            <a:pPr>
              <a:spcAft>
                <a:spcPts val="600"/>
              </a:spcAft>
            </a:pPr>
            <a:r>
              <a:rPr sz="1200" b="0">
                <a:solidFill>
                  <a:srgbClr val="E8ECF1"/>
                </a:solidFill>
                <a:latin typeface="Calibri"/>
              </a:rPr>
              <a:t>The engine measures its own compute time each tick, which is how we can state a p95 rather than assert real-time performance.</a:t>
            </a:r>
          </a:p>
          <a:p>
            <a:pPr>
              <a:spcAft>
                <a:spcPts val="600"/>
              </a:spcAft>
            </a:pPr>
            <a:r>
              <a:rPr sz="1200" b="0">
                <a:solidFill>
                  <a:srgbClr val="E8ECF1"/>
                </a:solidFill>
                <a:latin typeface="Calibri"/>
              </a:rPr>
              <a:t>The physics is deliberately simple. The contribution is the coordination, so the world model stays auditable.</a:t>
            </a:r>
          </a:p>
        </p:txBody>
      </p:sp>
      <p:sp>
        <p:nvSpPr>
          <p:cNvPr id="6" name="Rounded Rectangle 5"/>
          <p:cNvSpPr/>
          <p:nvPr/>
        </p:nvSpPr>
        <p:spPr>
          <a:xfrm>
            <a:off x="502920" y="5989320"/>
            <a:ext cx="11155680" cy="566928"/>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Verified: p95 tick compute 10.14 ms at fleet 50 against a 100 ms budget - about 90 percent headroom.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2B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M4 - Coordination</a:t>
            </a:r>
          </a:p>
          <a:p>
            <a:pPr>
              <a:spcAft>
                <a:spcPts val="400"/>
              </a:spcAft>
            </a:pPr>
            <a:r>
              <a:rPr sz="1300" b="0">
                <a:solidFill>
                  <a:srgbClr val="93A1B2"/>
                </a:solidFill>
                <a:latin typeface="Calibri"/>
              </a:rPr>
              <a:t>The binding arbiter</a:t>
            </a:r>
          </a:p>
        </p:txBody>
      </p:sp>
      <p:sp>
        <p:nvSpPr>
          <p:cNvPr id="4" name="TextBox 3"/>
          <p:cNvSpPr txBox="1"/>
          <p:nvPr/>
        </p:nvSpPr>
        <p:spPr>
          <a:xfrm>
            <a:off x="502920" y="1280160"/>
            <a:ext cx="11155680" cy="5120640"/>
          </a:xfrm>
          <a:prstGeom prst="rect">
            <a:avLst/>
          </a:prstGeom>
          <a:noFill/>
        </p:spPr>
        <p:txBody>
          <a:bodyPr wrap="square">
            <a:spAutoFit/>
          </a:bodyPr>
          <a:lstStyle/>
          <a:p>
            <a:pPr>
              <a:spcAft>
                <a:spcPts val="700"/>
              </a:spcAft>
            </a:pPr>
            <a:r>
              <a:rPr sz="1500" b="0">
                <a:solidFill>
                  <a:srgbClr val="E8ECF1"/>
                </a:solidFill>
                <a:latin typeface="Calibri"/>
              </a:rPr>
              <a:t>SIMPLEX RUNTIME ASSURANCE (Sha, 2001)</a:t>
            </a:r>
          </a:p>
          <a:p>
            <a:pPr lvl="1">
              <a:spcAft>
                <a:spcPts val="700"/>
              </a:spcAft>
            </a:pPr>
            <a:r>
              <a:rPr sz="1400" b="0">
                <a:solidFill>
                  <a:srgbClr val="93A1B2"/>
                </a:solidFill>
                <a:latin typeface="Calibri"/>
              </a:rPr>
              <a:t>A complex, high-performance decision layer is wrapped by a simple, verifiable safety layer that has the last word. The complex layer can be wrong; the system still cannot collide.</a:t>
            </a:r>
          </a:p>
          <a:p>
            <a:pPr>
              <a:spcAft>
                <a:spcPts val="700"/>
              </a:spcAft>
            </a:pPr>
            <a:r>
              <a:rPr sz="1500" b="1">
                <a:solidFill>
                  <a:srgbClr val="E8ECF1"/>
                </a:solidFill>
                <a:latin typeface="Calibri"/>
              </a:rPr>
              <a:t>THE FOUR STAGES</a:t>
            </a:r>
          </a:p>
          <a:p>
            <a:pPr lvl="1">
              <a:spcAft>
                <a:spcPts val="700"/>
              </a:spcAft>
            </a:pPr>
            <a:r>
              <a:rPr sz="1400" b="0">
                <a:solidFill>
                  <a:srgbClr val="93A1B2"/>
                </a:solidFill>
                <a:latin typeface="Calibri"/>
              </a:rPr>
              <a:t>1. Contract Net auction assigns tasks by bid, with no auctioneer.</a:t>
            </a:r>
          </a:p>
          <a:p>
            <a:pPr lvl="1">
              <a:spcAft>
                <a:spcPts val="700"/>
              </a:spcAft>
            </a:pPr>
            <a:r>
              <a:rPr sz="1400" b="0">
                <a:solidFill>
                  <a:srgbClr val="93A1B2"/>
                </a:solidFill>
                <a:latin typeface="Calibri"/>
              </a:rPr>
              <a:t>2. Cooperative A* over a time-indexed reservation table claims corridors ahead of time.</a:t>
            </a:r>
          </a:p>
          <a:p>
            <a:pPr lvl="1">
              <a:spcAft>
                <a:spcPts val="700"/>
              </a:spcAft>
            </a:pPr>
            <a:r>
              <a:rPr sz="1400" b="0">
                <a:solidFill>
                  <a:srgbClr val="93A1B2"/>
                </a:solidFill>
                <a:latin typeface="Calibri"/>
              </a:rPr>
              <a:t>3. Utility-based right-of-way resolves whatever the reservations did not: remaining path, battery, task priority, yield streak.</a:t>
            </a:r>
          </a:p>
          <a:p>
            <a:pPr lvl="1">
              <a:spcAft>
                <a:spcPts val="700"/>
              </a:spcAft>
            </a:pPr>
            <a:r>
              <a:rPr sz="1400" b="0">
                <a:solidFill>
                  <a:srgbClr val="93A1B2"/>
                </a:solidFill>
                <a:latin typeface="Calibri"/>
              </a:rPr>
              <a:t>4. A geometric monitor enforces HARD_STOP 0.75 m unconditionally. It does not read the plan, the bid or the model - only positions.</a:t>
            </a:r>
          </a:p>
          <a:p>
            <a:pPr>
              <a:spcAft>
                <a:spcPts val="700"/>
              </a:spcAft>
            </a:pPr>
            <a:r>
              <a:rPr sz="1500" b="1">
                <a:solidFill>
                  <a:srgbClr val="E8ECF1"/>
                </a:solidFill>
                <a:latin typeface="Calibri"/>
              </a:rPr>
              <a:t>DEADLOCK</a:t>
            </a:r>
          </a:p>
          <a:p>
            <a:pPr lvl="1">
              <a:spcAft>
                <a:spcPts val="700"/>
              </a:spcAft>
            </a:pPr>
            <a:r>
              <a:rPr sz="1400" b="0">
                <a:solidFill>
                  <a:srgbClr val="93A1B2"/>
                </a:solidFill>
                <a:latin typeface="Calibri"/>
              </a:rPr>
              <a:t>Cycles are detected on the wait-for graph (Coffman conditions, Knapp classification) and broken by the same total order used for tie-breaks, so resolution is deterministic rather than randomised back-off.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One tick, end to end</a:t>
            </a:r>
          </a:p>
          <a:p>
            <a:pPr>
              <a:spcAft>
                <a:spcPts val="400"/>
              </a:spcAft>
            </a:pPr>
            <a:r>
              <a:rPr sz="1300" b="0">
                <a:solidFill>
                  <a:srgbClr val="93A1B2"/>
                </a:solidFill>
                <a:latin typeface="Calibri"/>
              </a:rPr>
              <a:t>What happens in each 100 ms, and who can say no</a:t>
            </a:r>
          </a:p>
        </p:txBody>
      </p:sp>
      <p:sp>
        <p:nvSpPr>
          <p:cNvPr id="4" name="Rounded Rectangle 3"/>
          <p:cNvSpPr/>
          <p:nvPr/>
        </p:nvSpPr>
        <p:spPr>
          <a:xfrm>
            <a:off x="502920" y="2148840"/>
            <a:ext cx="1600200" cy="1737360"/>
          </a:xfrm>
          <a:prstGeom prst="roundRect">
            <a:avLst/>
          </a:prstGeom>
          <a:solidFill>
            <a:srgbClr val="1B212A"/>
          </a:solidFill>
          <a:ln w="15875">
            <a:solidFill>
              <a:srgbClr val="93A1B2"/>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93A1B2"/>
                </a:solidFill>
                <a:latin typeface="Calibri"/>
              </a:rPr>
              <a:t>Sense</a:t>
            </a:r>
          </a:p>
          <a:p>
            <a:pPr>
              <a:spcAft>
                <a:spcPts val="400"/>
              </a:spcAft>
            </a:pPr>
            <a:r>
              <a:rPr sz="1000" b="0">
                <a:solidFill>
                  <a:srgbClr val="93A1B2"/>
                </a:solidFill>
                <a:latin typeface="Calibri"/>
              </a:rPr>
              <a:t>Read own pose, hear peers within 15 m. Nothing else is available.</a:t>
            </a:r>
          </a:p>
        </p:txBody>
      </p:sp>
      <p:sp>
        <p:nvSpPr>
          <p:cNvPr id="5" name="TextBox 4"/>
          <p:cNvSpPr txBox="1"/>
          <p:nvPr/>
        </p:nvSpPr>
        <p:spPr>
          <a:xfrm>
            <a:off x="2121408" y="281635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6" name="Rounded Rectangle 5"/>
          <p:cNvSpPr/>
          <p:nvPr/>
        </p:nvSpPr>
        <p:spPr>
          <a:xfrm>
            <a:off x="2414015" y="2148840"/>
            <a:ext cx="1600200" cy="1737360"/>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A97BFF"/>
                </a:solidFill>
                <a:latin typeface="Calibri"/>
              </a:rPr>
              <a:t>Advise</a:t>
            </a:r>
          </a:p>
          <a:p>
            <a:pPr>
              <a:spcAft>
                <a:spcPts val="400"/>
              </a:spcAft>
            </a:pPr>
            <a:r>
              <a:rPr sz="1000" b="0">
                <a:solidFill>
                  <a:srgbClr val="93A1B2"/>
                </a:solidFill>
                <a:latin typeface="Calibri"/>
              </a:rPr>
              <a:t>M3 offers a demand forecast. Non-binding.</a:t>
            </a:r>
          </a:p>
        </p:txBody>
      </p:sp>
      <p:sp>
        <p:nvSpPr>
          <p:cNvPr id="7" name="TextBox 6"/>
          <p:cNvSpPr txBox="1"/>
          <p:nvPr/>
        </p:nvSpPr>
        <p:spPr>
          <a:xfrm>
            <a:off x="4032503" y="281635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8" name="Rounded Rectangle 7"/>
          <p:cNvSpPr/>
          <p:nvPr/>
        </p:nvSpPr>
        <p:spPr>
          <a:xfrm>
            <a:off x="4325112" y="2148840"/>
            <a:ext cx="1600200" cy="173736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3B9EFF"/>
                </a:solidFill>
                <a:latin typeface="Calibri"/>
              </a:rPr>
              <a:t>Plan</a:t>
            </a:r>
          </a:p>
          <a:p>
            <a:pPr>
              <a:spcAft>
                <a:spcPts val="400"/>
              </a:spcAft>
            </a:pPr>
            <a:r>
              <a:rPr sz="1000" b="0">
                <a:solidFill>
                  <a:srgbClr val="93A1B2"/>
                </a:solidFill>
                <a:latin typeface="Calibri"/>
              </a:rPr>
              <a:t>Auction bid, WHCA* path, reservation requests.</a:t>
            </a:r>
          </a:p>
        </p:txBody>
      </p:sp>
      <p:sp>
        <p:nvSpPr>
          <p:cNvPr id="9" name="TextBox 8"/>
          <p:cNvSpPr txBox="1"/>
          <p:nvPr/>
        </p:nvSpPr>
        <p:spPr>
          <a:xfrm>
            <a:off x="5943599" y="281635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0" name="Rounded Rectangle 9"/>
          <p:cNvSpPr/>
          <p:nvPr/>
        </p:nvSpPr>
        <p:spPr>
          <a:xfrm>
            <a:off x="6236207" y="2148840"/>
            <a:ext cx="1600200" cy="173736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F2B137"/>
                </a:solidFill>
                <a:latin typeface="Calibri"/>
              </a:rPr>
              <a:t>Arbitrate</a:t>
            </a:r>
          </a:p>
          <a:p>
            <a:pPr>
              <a:spcAft>
                <a:spcPts val="400"/>
              </a:spcAft>
            </a:pPr>
            <a:r>
              <a:rPr sz="1000" b="0">
                <a:solidFill>
                  <a:srgbClr val="93A1B2"/>
                </a:solidFill>
                <a:latin typeface="Calibri"/>
              </a:rPr>
              <a:t>Utility contest, deadlock check, verdict per robot.</a:t>
            </a:r>
          </a:p>
        </p:txBody>
      </p:sp>
      <p:sp>
        <p:nvSpPr>
          <p:cNvPr id="11" name="TextBox 10"/>
          <p:cNvSpPr txBox="1"/>
          <p:nvPr/>
        </p:nvSpPr>
        <p:spPr>
          <a:xfrm>
            <a:off x="7854696" y="281635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2" name="Rounded Rectangle 11"/>
          <p:cNvSpPr/>
          <p:nvPr/>
        </p:nvSpPr>
        <p:spPr>
          <a:xfrm>
            <a:off x="8147304" y="2148840"/>
            <a:ext cx="1600200" cy="1737360"/>
          </a:xfrm>
          <a:prstGeom prst="roundRect">
            <a:avLst/>
          </a:prstGeom>
          <a:solidFill>
            <a:srgbClr val="1B212A"/>
          </a:solidFill>
          <a:ln w="15875">
            <a:solidFill>
              <a:srgbClr val="E55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E55B5B"/>
                </a:solidFill>
                <a:latin typeface="Calibri"/>
              </a:rPr>
              <a:t>Monitor</a:t>
            </a:r>
          </a:p>
          <a:p>
            <a:pPr>
              <a:spcAft>
                <a:spcPts val="400"/>
              </a:spcAft>
            </a:pPr>
            <a:r>
              <a:rPr sz="1000" b="0">
                <a:solidFill>
                  <a:srgbClr val="93A1B2"/>
                </a:solidFill>
                <a:latin typeface="Calibri"/>
              </a:rPr>
              <a:t>Geometric floor. Can override everything above.</a:t>
            </a:r>
          </a:p>
        </p:txBody>
      </p:sp>
      <p:sp>
        <p:nvSpPr>
          <p:cNvPr id="13" name="TextBox 12"/>
          <p:cNvSpPr txBox="1"/>
          <p:nvPr/>
        </p:nvSpPr>
        <p:spPr>
          <a:xfrm>
            <a:off x="9765792" y="281635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4" name="Rounded Rectangle 13"/>
          <p:cNvSpPr/>
          <p:nvPr/>
        </p:nvSpPr>
        <p:spPr>
          <a:xfrm>
            <a:off x="10058400" y="2148840"/>
            <a:ext cx="1600200" cy="173736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35C78A"/>
                </a:solidFill>
                <a:latin typeface="Calibri"/>
              </a:rPr>
              <a:t>Act</a:t>
            </a:r>
          </a:p>
          <a:p>
            <a:pPr>
              <a:spcAft>
                <a:spcPts val="400"/>
              </a:spcAft>
            </a:pPr>
            <a:r>
              <a:rPr sz="1000" b="0">
                <a:solidFill>
                  <a:srgbClr val="93A1B2"/>
                </a:solidFill>
                <a:latin typeface="Calibri"/>
              </a:rPr>
              <a:t>Bounded step, max 0.22 m. State published once.</a:t>
            </a:r>
          </a:p>
        </p:txBody>
      </p:sp>
      <p:sp>
        <p:nvSpPr>
          <p:cNvPr id="15" name="TextBox 14"/>
          <p:cNvSpPr txBox="1"/>
          <p:nvPr/>
        </p:nvSpPr>
        <p:spPr>
          <a:xfrm>
            <a:off x="502920" y="4206240"/>
            <a:ext cx="11155680" cy="5120640"/>
          </a:xfrm>
          <a:prstGeom prst="rect">
            <a:avLst/>
          </a:prstGeom>
          <a:noFill/>
        </p:spPr>
        <p:txBody>
          <a:bodyPr wrap="square">
            <a:spAutoFit/>
          </a:bodyPr>
          <a:lstStyle/>
          <a:p>
            <a:pPr>
              <a:spcAft>
                <a:spcPts val="1000"/>
              </a:spcAft>
            </a:pPr>
            <a:r>
              <a:rPr sz="1400" b="0">
                <a:solidFill>
                  <a:srgbClr val="E8ECF1"/>
                </a:solidFill>
                <a:latin typeface="Calibri"/>
              </a:rPr>
              <a:t>Each stage can only reduce freedom, never increase it. A robot that has been told to stop cannot be un-stopped by a later stage, which is what makes the safety argument short enough to actually check.</a:t>
            </a:r>
          </a:p>
          <a:p>
            <a:pPr>
              <a:spcAft>
                <a:spcPts val="1000"/>
              </a:spcAft>
            </a:pPr>
            <a:r>
              <a:rPr sz="1400" b="0">
                <a:solidFill>
                  <a:srgbClr val="E8ECF1"/>
                </a:solidFill>
                <a:latin typeface="Calibri"/>
              </a:rPr>
              <a:t>The verdict object records which stage bound the decision, so the UI can explain any robot's behaviour in one sentence instead of showing a log.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A9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M3 - Edge-AI, and the decision not to trust it</a:t>
            </a:r>
          </a:p>
          <a:p>
            <a:pPr>
              <a:spcAft>
                <a:spcPts val="400"/>
              </a:spcAft>
            </a:pPr>
            <a:r>
              <a:rPr sz="1300" b="0">
                <a:solidFill>
                  <a:srgbClr val="93A1B2"/>
                </a:solidFill>
                <a:latin typeface="Calibri"/>
              </a:rPr>
              <a:t>X-05: we measured our own model and it lost</a:t>
            </a:r>
          </a:p>
        </p:txBody>
      </p:sp>
      <p:graphicFrame>
        <p:nvGraphicFramePr>
          <p:cNvPr id="4" name="Table 3"/>
          <p:cNvGraphicFramePr>
            <a:graphicFrameLocks noGrp="1"/>
          </p:cNvGraphicFramePr>
          <p:nvPr/>
        </p:nvGraphicFramePr>
        <p:xfrm>
          <a:off x="502920" y="1371600"/>
          <a:ext cx="11155680" cy="877824"/>
        </p:xfrm>
        <a:graphic>
          <a:graphicData uri="http://schemas.openxmlformats.org/drawingml/2006/table">
            <a:tbl>
              <a:tblPr firstRow="1" bandRow="1">
                <a:tableStyleId>{5C22544A-7EE6-4342-B048-85BDC9FD1C3A}</a:tableStyleId>
              </a:tblPr>
              <a:tblGrid>
                <a:gridCol w="2377440"/>
                <a:gridCol w="2011680"/>
                <a:gridCol w="2377440"/>
                <a:gridCol w="2011680"/>
                <a:gridCol w="2377440"/>
              </a:tblGrid>
              <a:tr h="292608">
                <a:tc>
                  <a:txBody>
                    <a:bodyPr/>
                    <a:lstStyle/>
                    <a:p>
                      <a:r>
                        <a:rPr sz="1200" b="1">
                          <a:solidFill>
                            <a:srgbClr val="3B9EFF"/>
                          </a:solidFill>
                        </a:rPr>
                        <a:t>Configuration</a:t>
                      </a:r>
                    </a:p>
                  </a:txBody>
                  <a:tcPr>
                    <a:solidFill>
                      <a:srgbClr val="1B212A"/>
                    </a:solidFill>
                  </a:tcPr>
                </a:tc>
                <a:tc>
                  <a:txBody>
                    <a:bodyPr/>
                    <a:lstStyle/>
                    <a:p>
                      <a:r>
                        <a:rPr sz="1200" b="1">
                          <a:solidFill>
                            <a:srgbClr val="3B9EFF"/>
                          </a:solidFill>
                        </a:rPr>
                        <a:t>Model MAE</a:t>
                      </a:r>
                    </a:p>
                  </a:txBody>
                  <a:tcPr>
                    <a:solidFill>
                      <a:srgbClr val="1B212A"/>
                    </a:solidFill>
                  </a:tcPr>
                </a:tc>
                <a:tc>
                  <a:txBody>
                    <a:bodyPr/>
                    <a:lstStyle/>
                    <a:p>
                      <a:r>
                        <a:rPr sz="1200" b="1">
                          <a:solidFill>
                            <a:srgbClr val="3B9EFF"/>
                          </a:solidFill>
                        </a:rPr>
                        <a:t>Persistence MAE</a:t>
                      </a:r>
                    </a:p>
                  </a:txBody>
                  <a:tcPr>
                    <a:solidFill>
                      <a:srgbClr val="1B212A"/>
                    </a:solidFill>
                  </a:tcPr>
                </a:tc>
                <a:tc>
                  <a:txBody>
                    <a:bodyPr/>
                    <a:lstStyle/>
                    <a:p>
                      <a:r>
                        <a:rPr sz="1200" b="1">
                          <a:solidFill>
                            <a:srgbClr val="3B9EFF"/>
                          </a:solidFill>
                        </a:rPr>
                        <a:t>Delta</a:t>
                      </a:r>
                    </a:p>
                  </a:txBody>
                  <a:tcPr>
                    <a:solidFill>
                      <a:srgbClr val="1B212A"/>
                    </a:solidFill>
                  </a:tcPr>
                </a:tc>
                <a:tc>
                  <a:txBody>
                    <a:bodyPr/>
                    <a:lstStyle/>
                    <a:p>
                      <a:r>
                        <a:rPr sz="1200" b="1">
                          <a:solidFill>
                            <a:srgbClr val="3B9EFF"/>
                          </a:solidFill>
                        </a:rPr>
                        <a:t>Verdict</a:t>
                      </a:r>
                    </a:p>
                  </a:txBody>
                  <a:tcPr>
                    <a:solidFill>
                      <a:srgbClr val="1B212A"/>
                    </a:solidFill>
                  </a:tcPr>
                </a:tc>
              </a:tr>
              <a:tr h="292608">
                <a:tc>
                  <a:txBody>
                    <a:bodyPr/>
                    <a:lstStyle/>
                    <a:p>
                      <a:r>
                        <a:rPr sz="1200">
                          <a:solidFill>
                            <a:srgbClr val="E8ECF1"/>
                          </a:solidFill>
                        </a:rPr>
                        <a:t>Fleet 8</a:t>
                      </a:r>
                    </a:p>
                  </a:txBody>
                  <a:tcPr>
                    <a:solidFill>
                      <a:srgbClr val="12161C"/>
                    </a:solidFill>
                  </a:tcPr>
                </a:tc>
                <a:tc>
                  <a:txBody>
                    <a:bodyPr/>
                    <a:lstStyle/>
                    <a:p>
                      <a:r>
                        <a:rPr sz="1200">
                          <a:solidFill>
                            <a:srgbClr val="E8ECF1"/>
                          </a:solidFill>
                        </a:rPr>
                        <a:t>5.344</a:t>
                      </a:r>
                    </a:p>
                  </a:txBody>
                  <a:tcPr>
                    <a:solidFill>
                      <a:srgbClr val="12161C"/>
                    </a:solidFill>
                  </a:tcPr>
                </a:tc>
                <a:tc>
                  <a:txBody>
                    <a:bodyPr/>
                    <a:lstStyle/>
                    <a:p>
                      <a:r>
                        <a:rPr sz="1200">
                          <a:solidFill>
                            <a:srgbClr val="E8ECF1"/>
                          </a:solidFill>
                        </a:rPr>
                        <a:t>0.667</a:t>
                      </a:r>
                    </a:p>
                  </a:txBody>
                  <a:tcPr>
                    <a:solidFill>
                      <a:srgbClr val="12161C"/>
                    </a:solidFill>
                  </a:tcPr>
                </a:tc>
                <a:tc>
                  <a:txBody>
                    <a:bodyPr/>
                    <a:lstStyle/>
                    <a:p>
                      <a:r>
                        <a:rPr sz="1200">
                          <a:solidFill>
                            <a:srgbClr val="E8ECF1"/>
                          </a:solidFill>
                        </a:rPr>
                        <a:t>-701.6 pct</a:t>
                      </a:r>
                    </a:p>
                  </a:txBody>
                  <a:tcPr>
                    <a:solidFill>
                      <a:srgbClr val="12161C"/>
                    </a:solidFill>
                  </a:tcPr>
                </a:tc>
                <a:tc>
                  <a:txBody>
                    <a:bodyPr/>
                    <a:lstStyle/>
                    <a:p>
                      <a:r>
                        <a:rPr sz="1200">
                          <a:solidFill>
                            <a:srgbClr val="E8ECF1"/>
                          </a:solidFill>
                        </a:rPr>
                        <a:t>model far worse</a:t>
                      </a:r>
                    </a:p>
                  </a:txBody>
                  <a:tcPr>
                    <a:solidFill>
                      <a:srgbClr val="12161C"/>
                    </a:solidFill>
                  </a:tcPr>
                </a:tc>
              </a:tr>
              <a:tr h="292608">
                <a:tc>
                  <a:txBody>
                    <a:bodyPr/>
                    <a:lstStyle/>
                    <a:p>
                      <a:r>
                        <a:rPr sz="1200">
                          <a:solidFill>
                            <a:srgbClr val="E8ECF1"/>
                          </a:solidFill>
                        </a:rPr>
                        <a:t>Fleet 50</a:t>
                      </a:r>
                    </a:p>
                  </a:txBody>
                  <a:tcPr>
                    <a:solidFill>
                      <a:srgbClr val="1B212A"/>
                    </a:solidFill>
                  </a:tcPr>
                </a:tc>
                <a:tc>
                  <a:txBody>
                    <a:bodyPr/>
                    <a:lstStyle/>
                    <a:p>
                      <a:r>
                        <a:rPr sz="1200">
                          <a:solidFill>
                            <a:srgbClr val="E8ECF1"/>
                          </a:solidFill>
                        </a:rPr>
                        <a:t>2.308</a:t>
                      </a:r>
                    </a:p>
                  </a:txBody>
                  <a:tcPr>
                    <a:solidFill>
                      <a:srgbClr val="1B212A"/>
                    </a:solidFill>
                  </a:tcPr>
                </a:tc>
                <a:tc>
                  <a:txBody>
                    <a:bodyPr/>
                    <a:lstStyle/>
                    <a:p>
                      <a:r>
                        <a:rPr sz="1200">
                          <a:solidFill>
                            <a:srgbClr val="E8ECF1"/>
                          </a:solidFill>
                        </a:rPr>
                        <a:t>0.415</a:t>
                      </a:r>
                    </a:p>
                  </a:txBody>
                  <a:tcPr>
                    <a:solidFill>
                      <a:srgbClr val="1B212A"/>
                    </a:solidFill>
                  </a:tcPr>
                </a:tc>
                <a:tc>
                  <a:txBody>
                    <a:bodyPr/>
                    <a:lstStyle/>
                    <a:p>
                      <a:r>
                        <a:rPr sz="1200">
                          <a:solidFill>
                            <a:srgbClr val="E8ECF1"/>
                          </a:solidFill>
                        </a:rPr>
                        <a:t>-456.0 pct</a:t>
                      </a:r>
                    </a:p>
                  </a:txBody>
                  <a:tcPr>
                    <a:solidFill>
                      <a:srgbClr val="1B212A"/>
                    </a:solidFill>
                  </a:tcPr>
                </a:tc>
                <a:tc>
                  <a:txBody>
                    <a:bodyPr/>
                    <a:lstStyle/>
                    <a:p>
                      <a:r>
                        <a:rPr sz="1200">
                          <a:solidFill>
                            <a:srgbClr val="E8ECF1"/>
                          </a:solidFill>
                        </a:rPr>
                        <a:t>model far worse</a:t>
                      </a:r>
                    </a:p>
                  </a:txBody>
                  <a:tcPr>
                    <a:solidFill>
                      <a:srgbClr val="1B212A"/>
                    </a:solidFill>
                  </a:tcPr>
                </a:tc>
              </a:tr>
            </a:tbl>
          </a:graphicData>
        </a:graphic>
      </p:graphicFrame>
      <p:sp>
        <p:nvSpPr>
          <p:cNvPr id="5" name="TextBox 4"/>
          <p:cNvSpPr txBox="1"/>
          <p:nvPr/>
        </p:nvSpPr>
        <p:spPr>
          <a:xfrm>
            <a:off x="502920" y="2834640"/>
            <a:ext cx="11155680" cy="5120640"/>
          </a:xfrm>
          <a:prstGeom prst="rect">
            <a:avLst/>
          </a:prstGeom>
          <a:noFill/>
        </p:spPr>
        <p:txBody>
          <a:bodyPr wrap="square">
            <a:spAutoFit/>
          </a:bodyPr>
          <a:lstStyle/>
          <a:p>
            <a:pPr>
              <a:spcAft>
                <a:spcPts val="1000"/>
              </a:spcAft>
            </a:pPr>
            <a:r>
              <a:rPr sz="1400" b="0">
                <a:solidFill>
                  <a:srgbClr val="E8ECF1"/>
                </a:solidFill>
                <a:latin typeface="Calibri"/>
              </a:rPr>
              <a:t>A shadow forecaster ran alongside the live system and was scored against the most boring baseline available - persistence, which simply predicts that the next interval looks like the last one.</a:t>
            </a:r>
          </a:p>
          <a:p>
            <a:pPr>
              <a:spcAft>
                <a:spcPts val="1000"/>
              </a:spcAft>
            </a:pPr>
            <a:r>
              <a:rPr sz="1400" b="0">
                <a:solidFill>
                  <a:srgbClr val="E8ECF1"/>
                </a:solidFill>
                <a:latin typeface="Calibri"/>
              </a:rPr>
              <a:t>It lost by roughly four to seven times. So the forecaster stayed advisory, and we wrote the result down instead of quietly shipping it.</a:t>
            </a:r>
          </a:p>
          <a:p>
            <a:pPr>
              <a:spcAft>
                <a:spcPts val="1000"/>
              </a:spcAft>
            </a:pPr>
            <a:r>
              <a:rPr sz="1400" b="0">
                <a:solidFill>
                  <a:srgbClr val="E8ECF1"/>
                </a:solidFill>
                <a:latin typeface="Calibri"/>
              </a:rPr>
              <a:t>Three tests now enforce that structurally: no coordination module may import app.ml; an advisory can never bind a verdict; and a forecaster that throws on every call cannot stop the simulation.</a:t>
            </a:r>
          </a:p>
        </p:txBody>
      </p:sp>
      <p:sp>
        <p:nvSpPr>
          <p:cNvPr id="6" name="Rounded Rectangle 5"/>
          <p:cNvSpPr/>
          <p:nvPr/>
        </p:nvSpPr>
        <p:spPr>
          <a:xfrm>
            <a:off x="502920" y="5532120"/>
            <a:ext cx="11155680" cy="566928"/>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Recorded in docs/X05_FORECASTER_DECISION.md and enforced by tests/test_ml_fence.py. An honest negative result is cheaper than a demo that fails under questioning.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5C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M2 - Backend</a:t>
            </a:r>
          </a:p>
          <a:p>
            <a:pPr>
              <a:spcAft>
                <a:spcPts val="400"/>
              </a:spcAft>
            </a:pPr>
            <a:r>
              <a:rPr sz="1300" b="0">
                <a:solidFill>
                  <a:srgbClr val="93A1B2"/>
                </a:solidFill>
                <a:latin typeface="Calibri"/>
              </a:rPr>
              <a:t>Control plane and data plane, kept separate on purpose</a:t>
            </a:r>
          </a:p>
        </p:txBody>
      </p:sp>
      <p:sp>
        <p:nvSpPr>
          <p:cNvPr id="4" name="Rounded Rectangle 3"/>
          <p:cNvSpPr/>
          <p:nvPr/>
        </p:nvSpPr>
        <p:spPr>
          <a:xfrm>
            <a:off x="502920" y="1234440"/>
            <a:ext cx="5394960" cy="45720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35C78A"/>
                </a:solidFill>
                <a:latin typeface="Calibri"/>
              </a:rPr>
              <a:t>REST control plane</a:t>
            </a:r>
          </a:p>
          <a:p>
            <a:pPr>
              <a:spcAft>
                <a:spcPts val="600"/>
              </a:spcAft>
            </a:pPr>
            <a:r>
              <a:rPr sz="1200" b="0">
                <a:solidFill>
                  <a:srgbClr val="E8ECF1"/>
                </a:solidFill>
                <a:latin typeface="Calibri"/>
              </a:rPr>
              <a:t>Raw Starlette with an asynccontextmanager lifespan. No framework magic in the request path.</a:t>
            </a:r>
          </a:p>
          <a:p>
            <a:pPr>
              <a:spcAft>
                <a:spcPts val="600"/>
              </a:spcAft>
            </a:pPr>
            <a:r>
              <a:rPr sz="1200" b="0">
                <a:solidFill>
                  <a:srgbClr val="E8ECF1"/>
                </a:solidFill>
                <a:latin typeface="Calibri"/>
              </a:rPr>
              <a:t>/api/status - run identity, tick, policy, impairment. Deliberately carries no robot array.</a:t>
            </a:r>
          </a:p>
          <a:p>
            <a:pPr>
              <a:spcAft>
                <a:spcPts val="600"/>
              </a:spcAft>
            </a:pPr>
            <a:r>
              <a:rPr sz="1200" b="0">
                <a:solidFill>
                  <a:srgbClr val="E8ECF1"/>
                </a:solidFill>
                <a:latin typeface="Calibri"/>
              </a:rPr>
              <a:t>/api/sim/inject - fault injection. /api/sim/control - run, pause, step, reset, seed.</a:t>
            </a:r>
          </a:p>
          <a:p>
            <a:pPr>
              <a:spcAft>
                <a:spcPts val="600"/>
              </a:spcAft>
            </a:pPr>
            <a:r>
              <a:rPr sz="1200" b="0">
                <a:solidFill>
                  <a:srgbClr val="E8ECF1"/>
                </a:solidFill>
                <a:latin typeface="Calibri"/>
              </a:rPr>
              <a:t>/api/cosim - counterfactual co-simulation: fork the world and run the baseline against the same future.</a:t>
            </a:r>
          </a:p>
        </p:txBody>
      </p:sp>
      <p:sp>
        <p:nvSpPr>
          <p:cNvPr id="5" name="Rounded Rectangle 4"/>
          <p:cNvSpPr/>
          <p:nvPr/>
        </p:nvSpPr>
        <p:spPr>
          <a:xfrm>
            <a:off x="6263640" y="1234440"/>
            <a:ext cx="5394960" cy="457200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3B9EFF"/>
                </a:solidFill>
                <a:latin typeface="Calibri"/>
              </a:rPr>
              <a:t>WebSocket data plane</a:t>
            </a:r>
          </a:p>
          <a:p>
            <a:pPr>
              <a:spcAft>
                <a:spcPts val="600"/>
              </a:spcAft>
            </a:pPr>
            <a:r>
              <a:rPr sz="1200" b="0">
                <a:solidFill>
                  <a:srgbClr val="E8ECF1"/>
                </a:solidFill>
                <a:latin typeface="Calibri"/>
              </a:rPr>
              <a:t>/ws/fleet - one frame per tick carrying robots, KPIs and events with short keys to keep the frame small.</a:t>
            </a:r>
          </a:p>
          <a:p>
            <a:pPr>
              <a:spcAft>
                <a:spcPts val="600"/>
              </a:spcAft>
            </a:pPr>
            <a:r>
              <a:rPr sz="1200" b="0">
                <a:solidFill>
                  <a:srgbClr val="E8ECF1"/>
                </a:solidFill>
                <a:latin typeface="Calibri"/>
              </a:rPr>
              <a:t>State lives on exactly one channel. A client cannot assemble a half-REST, half-socket view and see two different worlds.</a:t>
            </a:r>
          </a:p>
          <a:p>
            <a:pPr>
              <a:spcAft>
                <a:spcPts val="600"/>
              </a:spcAft>
            </a:pPr>
            <a:r>
              <a:rPr sz="1200" b="0">
                <a:solidFill>
                  <a:srgbClr val="E8ECF1"/>
                </a:solidFill>
                <a:latin typeface="Calibri"/>
              </a:rPr>
              <a:t>Frames are versioned by schema_version, so a stale client degrades visibly instead of misrendering.</a:t>
            </a:r>
          </a:p>
          <a:p>
            <a:pPr>
              <a:spcAft>
                <a:spcPts val="600"/>
              </a:spcAft>
            </a:pPr>
            <a:r>
              <a:rPr sz="1200" b="0">
                <a:solidFill>
                  <a:srgbClr val="E8ECF1"/>
                </a:solidFill>
                <a:latin typeface="Calibri"/>
              </a:rPr>
              <a:t>Verified in-process with starlette.testclient, including websocket_connect, so the contract is a test not a promise.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M1 - Frontend</a:t>
            </a:r>
          </a:p>
          <a:p>
            <a:pPr>
              <a:spcAft>
                <a:spcPts val="400"/>
              </a:spcAft>
            </a:pPr>
            <a:r>
              <a:rPr sz="1300" b="0">
                <a:solidFill>
                  <a:srgbClr val="93A1B2"/>
                </a:solidFill>
                <a:latin typeface="Calibri"/>
              </a:rPr>
              <a:t>Vanilla JS and Canvas. No framework, no component library, no gradients.</a:t>
            </a:r>
          </a:p>
        </p:txBody>
      </p:sp>
      <p:sp>
        <p:nvSpPr>
          <p:cNvPr id="4" name="Rounded Rectangle 3"/>
          <p:cNvSpPr/>
          <p:nvPr/>
        </p:nvSpPr>
        <p:spPr>
          <a:xfrm>
            <a:off x="502920" y="1234440"/>
            <a:ext cx="5394960" cy="457200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3B9EFF"/>
                </a:solidFill>
                <a:latin typeface="Calibri"/>
              </a:rPr>
              <a:t>Design laws</a:t>
            </a:r>
          </a:p>
          <a:p>
            <a:pPr>
              <a:spcAft>
                <a:spcPts val="600"/>
              </a:spcAft>
            </a:pPr>
            <a:r>
              <a:rPr sz="1200" b="0">
                <a:solidFill>
                  <a:srgbClr val="E8ECF1"/>
                </a:solidFill>
                <a:latin typeface="Calibri"/>
              </a:rPr>
              <a:t>Three levels of ink on one surface. Saturated colour is reserved for robot STATE and nothing else.</a:t>
            </a:r>
          </a:p>
          <a:p>
            <a:pPr>
              <a:spcAft>
                <a:spcPts val="600"/>
              </a:spcAft>
            </a:pPr>
            <a:r>
              <a:rPr sz="1200" b="0">
                <a:solidFill>
                  <a:srgbClr val="E8ECF1"/>
                </a:solidFill>
                <a:latin typeface="Calibri"/>
              </a:rPr>
              <a:t>One hero metric at 40 px tabular (tasks per minute), three supporting metrics at 20 px. Not a wall of numbers.</a:t>
            </a:r>
          </a:p>
          <a:p>
            <a:pPr>
              <a:spcAft>
                <a:spcPts val="600"/>
              </a:spcAft>
            </a:pPr>
            <a:r>
              <a:rPr sz="1200" b="0">
                <a:solidFill>
                  <a:srgbClr val="E8ECF1"/>
                </a:solidFill>
                <a:latin typeface="Calibri"/>
              </a:rPr>
              <a:t>Motion only where it carries meaning: 120 to 200 ms, one 400 ms pulse at conflict birth, then a static ring.</a:t>
            </a:r>
          </a:p>
          <a:p>
            <a:pPr>
              <a:spcAft>
                <a:spcPts val="600"/>
              </a:spcAft>
            </a:pPr>
            <a:r>
              <a:rPr sz="1200" b="0">
                <a:solidFill>
                  <a:srgbClr val="E8ECF1"/>
                </a:solidFill>
                <a:latin typeface="Calibri"/>
              </a:rPr>
              <a:t>Empty states name the cause and the next action. Degraded states are inline banners, not red toasts.</a:t>
            </a:r>
          </a:p>
        </p:txBody>
      </p:sp>
      <p:sp>
        <p:nvSpPr>
          <p:cNvPr id="5" name="Rounded Rectangle 4"/>
          <p:cNvSpPr/>
          <p:nvPr/>
        </p:nvSpPr>
        <p:spPr>
          <a:xfrm>
            <a:off x="6263640" y="1234440"/>
            <a:ext cx="5394960" cy="4572000"/>
          </a:xfrm>
          <a:prstGeom prst="roundRect">
            <a:avLst/>
          </a:prstGeom>
          <a:solidFill>
            <a:srgbClr val="1B212A"/>
          </a:solidFill>
          <a:ln w="15875">
            <a:solidFill>
              <a:srgbClr val="93A1B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93A1B2"/>
                </a:solidFill>
                <a:latin typeface="Calibri"/>
              </a:rPr>
              <a:t>Engineering</a:t>
            </a:r>
          </a:p>
          <a:p>
            <a:pPr>
              <a:spcAft>
                <a:spcPts val="600"/>
              </a:spcAft>
            </a:pPr>
            <a:r>
              <a:rPr sz="1200" b="0">
                <a:solidFill>
                  <a:srgbClr val="E8ECF1"/>
                </a:solidFill>
                <a:latin typeface="Calibri"/>
              </a:rPr>
              <a:t>Fixed shell: 68 percent map, 22 percent right rail, 10 percent bottom strip. The map never reflows.</a:t>
            </a:r>
          </a:p>
          <a:p>
            <a:pPr>
              <a:spcAft>
                <a:spcPts val="600"/>
              </a:spcAft>
            </a:pPr>
            <a:r>
              <a:rPr sz="1200" b="0">
                <a:solidFill>
                  <a:srgbClr val="E8ECF1"/>
                </a:solidFill>
                <a:latin typeface="Calibri"/>
              </a:rPr>
              <a:t>Level of detail: below 0.6 zoom robots render as 4 px dots, which is what holds 50+ robots at 30 fps.</a:t>
            </a:r>
          </a:p>
          <a:p>
            <a:pPr>
              <a:spcAft>
                <a:spcPts val="600"/>
              </a:spcAft>
            </a:pPr>
            <a:r>
              <a:rPr sz="1200" b="0">
                <a:solidFill>
                  <a:srgbClr val="E8ECF1"/>
                </a:solidFill>
                <a:latin typeface="Calibri"/>
              </a:rPr>
              <a:t>Trails are drawn for the selected robot only. Everything else would be noise at fleet scale.</a:t>
            </a:r>
          </a:p>
          <a:p>
            <a:pPr>
              <a:spcAft>
                <a:spcPts val="600"/>
              </a:spcAft>
            </a:pPr>
            <a:r>
              <a:rPr sz="1200" b="0">
                <a:solidFill>
                  <a:srgbClr val="E8ECF1"/>
                </a:solidFill>
                <a:latin typeface="Calibri"/>
              </a:rPr>
              <a:t>No fake data, ever. A missing value renders as -- through a single exported constant, so zero always means zero.</a:t>
            </a:r>
          </a:p>
        </p:txBody>
      </p:sp>
      <p:sp>
        <p:nvSpPr>
          <p:cNvPr id="6" name="Rounded Rectangle 5"/>
          <p:cNvSpPr/>
          <p:nvPr/>
        </p:nvSpPr>
        <p:spPr>
          <a:xfrm>
            <a:off x="502920" y="5989320"/>
            <a:ext cx="11155680" cy="566928"/>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Keyboard-first: every demo action has a key binding, because a live demo that depends on clicking a small target is a demo that fails.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F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M6 - Database and analytics</a:t>
            </a:r>
          </a:p>
          <a:p>
            <a:pPr>
              <a:spcAft>
                <a:spcPts val="400"/>
              </a:spcAft>
            </a:pPr>
            <a:r>
              <a:rPr sz="1300" b="0">
                <a:solidFill>
                  <a:srgbClr val="93A1B2"/>
                </a:solidFill>
                <a:latin typeface="Calibri"/>
              </a:rPr>
              <a:t>Evidence, not logging</a:t>
            </a:r>
          </a:p>
        </p:txBody>
      </p:sp>
      <p:sp>
        <p:nvSpPr>
          <p:cNvPr id="4" name="TextBox 3"/>
          <p:cNvSpPr txBox="1"/>
          <p:nvPr/>
        </p:nvSpPr>
        <p:spPr>
          <a:xfrm>
            <a:off x="502920" y="1371600"/>
            <a:ext cx="11155680" cy="5120640"/>
          </a:xfrm>
          <a:prstGeom prst="rect">
            <a:avLst/>
          </a:prstGeom>
          <a:noFill/>
        </p:spPr>
        <p:txBody>
          <a:bodyPr wrap="square">
            <a:spAutoFit/>
          </a:bodyPr>
          <a:lstStyle/>
          <a:p>
            <a:pPr>
              <a:spcAft>
                <a:spcPts val="1400"/>
              </a:spcAft>
            </a:pPr>
            <a:r>
              <a:rPr sz="1500" b="0">
                <a:solidFill>
                  <a:srgbClr val="E8ECF1"/>
                </a:solidFill>
                <a:latin typeface="Calibri"/>
              </a:rPr>
              <a:t>Every decision that changed a robot's freedom is persisted as an event: who, when, which stage bound it, and why. The event store is the audit trail for the safety claim.</a:t>
            </a:r>
          </a:p>
          <a:p>
            <a:pPr>
              <a:spcAft>
                <a:spcPts val="1400"/>
              </a:spcAft>
            </a:pPr>
            <a:r>
              <a:rPr sz="1500" b="0">
                <a:solidFill>
                  <a:srgbClr val="E8ECF1"/>
                </a:solidFill>
                <a:latin typeface="Calibri"/>
              </a:rPr>
              <a:t>KPI rollups are computed from the event stream, not from a separate counter, so the number on the dashboard and the number in the report cannot diverge.</a:t>
            </a:r>
          </a:p>
          <a:p>
            <a:pPr>
              <a:spcAft>
                <a:spcPts val="1400"/>
              </a:spcAft>
            </a:pPr>
            <a:r>
              <a:rPr sz="1500" b="0">
                <a:solidFill>
                  <a:srgbClr val="E8ECF1"/>
                </a:solidFill>
                <a:latin typeface="Calibri"/>
              </a:rPr>
              <a:t>A run is keyed by its trace hash. Given the hash, the run can be replayed exactly - the same collisions avoided, in the same order, at the same ticks.</a:t>
            </a:r>
          </a:p>
          <a:p>
            <a:pPr>
              <a:spcAft>
                <a:spcPts val="1400"/>
              </a:spcAft>
            </a:pPr>
            <a:r>
              <a:rPr sz="1500" b="0">
                <a:solidFill>
                  <a:srgbClr val="E8ECF1"/>
                </a:solidFill>
                <a:latin typeface="Calibri"/>
              </a:rPr>
              <a:t>That is what makes the whole system falsifiable. Any judge can name a moment in the demo, and we can reproduce that moment offline.</a:t>
            </a:r>
          </a:p>
        </p:txBody>
      </p:sp>
      <p:sp>
        <p:nvSpPr>
          <p:cNvPr id="5" name="Rounded Rectangle 4"/>
          <p:cNvSpPr/>
          <p:nvPr/>
        </p:nvSpPr>
        <p:spPr>
          <a:xfrm>
            <a:off x="502920" y="4572000"/>
            <a:ext cx="2617470" cy="1280160"/>
          </a:xfrm>
          <a:prstGeom prst="roundRect">
            <a:avLst/>
          </a:prstGeom>
          <a:solidFill>
            <a:srgbClr val="1B212A"/>
          </a:solidFill>
          <a:ln w="15875">
            <a:solidFill>
              <a:srgbClr val="FF8A6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FF8A65"/>
                </a:solidFill>
                <a:latin typeface="Calibri"/>
              </a:rPr>
              <a:t>SQLite</a:t>
            </a:r>
          </a:p>
          <a:p>
            <a:pPr>
              <a:spcAft>
                <a:spcPts val="400"/>
              </a:spcAft>
            </a:pPr>
            <a:r>
              <a:rPr sz="1100" b="0">
                <a:solidFill>
                  <a:srgbClr val="93A1B2"/>
                </a:solidFill>
                <a:latin typeface="Calibri"/>
              </a:rPr>
              <a:t>no server, no setup</a:t>
            </a:r>
          </a:p>
        </p:txBody>
      </p:sp>
      <p:sp>
        <p:nvSpPr>
          <p:cNvPr id="6" name="Rounded Rectangle 5"/>
          <p:cNvSpPr/>
          <p:nvPr/>
        </p:nvSpPr>
        <p:spPr>
          <a:xfrm>
            <a:off x="3348989" y="4572000"/>
            <a:ext cx="2617470" cy="128016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4FB3A6"/>
                </a:solidFill>
                <a:latin typeface="Calibri"/>
              </a:rPr>
              <a:t>trace_hash</a:t>
            </a:r>
          </a:p>
          <a:p>
            <a:pPr>
              <a:spcAft>
                <a:spcPts val="400"/>
              </a:spcAft>
            </a:pPr>
            <a:r>
              <a:rPr sz="1100" b="0">
                <a:solidFill>
                  <a:srgbClr val="93A1B2"/>
                </a:solidFill>
                <a:latin typeface="Calibri"/>
              </a:rPr>
              <a:t>run identity</a:t>
            </a:r>
          </a:p>
        </p:txBody>
      </p:sp>
      <p:sp>
        <p:nvSpPr>
          <p:cNvPr id="7" name="Rounded Rectangle 6"/>
          <p:cNvSpPr/>
          <p:nvPr/>
        </p:nvSpPr>
        <p:spPr>
          <a:xfrm>
            <a:off x="6195059" y="4572000"/>
            <a:ext cx="2617470" cy="1280160"/>
          </a:xfrm>
          <a:prstGeom prst="roundRect">
            <a:avLst/>
          </a:prstGeom>
          <a:solidFill>
            <a:srgbClr val="1B212A"/>
          </a:solidFill>
          <a:ln w="15875">
            <a:solidFill>
              <a:srgbClr val="93A1B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93A1B2"/>
                </a:solidFill>
                <a:latin typeface="Calibri"/>
              </a:rPr>
              <a:t>append-only</a:t>
            </a:r>
          </a:p>
          <a:p>
            <a:pPr>
              <a:spcAft>
                <a:spcPts val="400"/>
              </a:spcAft>
            </a:pPr>
            <a:r>
              <a:rPr sz="1100" b="0">
                <a:solidFill>
                  <a:srgbClr val="93A1B2"/>
                </a:solidFill>
                <a:latin typeface="Calibri"/>
              </a:rPr>
              <a:t>event store</a:t>
            </a:r>
          </a:p>
        </p:txBody>
      </p:sp>
      <p:sp>
        <p:nvSpPr>
          <p:cNvPr id="8" name="Rounded Rectangle 7"/>
          <p:cNvSpPr/>
          <p:nvPr/>
        </p:nvSpPr>
        <p:spPr>
          <a:xfrm>
            <a:off x="9041130" y="4572000"/>
            <a:ext cx="2617470" cy="128016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replayable</a:t>
            </a:r>
          </a:p>
          <a:p>
            <a:pPr>
              <a:spcAft>
                <a:spcPts val="400"/>
              </a:spcAft>
            </a:pPr>
            <a:r>
              <a:rPr sz="1100" b="0">
                <a:solidFill>
                  <a:srgbClr val="93A1B2"/>
                </a:solidFill>
                <a:latin typeface="Calibri"/>
              </a:rPr>
              <a:t>bit for bit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Novelty register - graded honestly</a:t>
            </a:r>
          </a:p>
          <a:p>
            <a:pPr>
              <a:spcAft>
                <a:spcPts val="400"/>
              </a:spcAft>
            </a:pPr>
            <a:r>
              <a:rPr sz="1300" b="0">
                <a:solidFill>
                  <a:srgbClr val="93A1B2"/>
                </a:solidFill>
                <a:latin typeface="Calibri"/>
              </a:rPr>
              <a:t>We separate what is genuinely new from what is competent engineering, because judges do this anyway</a:t>
            </a:r>
          </a:p>
        </p:txBody>
      </p:sp>
      <p:graphicFrame>
        <p:nvGraphicFramePr>
          <p:cNvPr id="4" name="Table 3"/>
          <p:cNvGraphicFramePr>
            <a:graphicFrameLocks noGrp="1"/>
          </p:cNvGraphicFramePr>
          <p:nvPr/>
        </p:nvGraphicFramePr>
        <p:xfrm>
          <a:off x="502920" y="1325880"/>
          <a:ext cx="11155680" cy="2633472"/>
        </p:xfrm>
        <a:graphic>
          <a:graphicData uri="http://schemas.openxmlformats.org/drawingml/2006/table">
            <a:tbl>
              <a:tblPr firstRow="1" bandRow="1">
                <a:tableStyleId>{5C22544A-7EE6-4342-B048-85BDC9FD1C3A}</a:tableStyleId>
              </a:tblPr>
              <a:tblGrid>
                <a:gridCol w="640080"/>
                <a:gridCol w="3200400"/>
                <a:gridCol w="1554480"/>
                <a:gridCol w="5760720"/>
              </a:tblGrid>
              <a:tr h="292608">
                <a:tc>
                  <a:txBody>
                    <a:bodyPr/>
                    <a:lstStyle/>
                    <a:p/>
                  </a:txBody>
                  <a:tcPr>
                    <a:solidFill>
                      <a:srgbClr val="1B212A"/>
                    </a:solidFill>
                  </a:tcPr>
                </a:tc>
                <a:tc>
                  <a:txBody>
                    <a:bodyPr/>
                    <a:lstStyle/>
                    <a:p>
                      <a:r>
                        <a:rPr sz="1100" b="1">
                          <a:solidFill>
                            <a:srgbClr val="3B9EFF"/>
                          </a:solidFill>
                        </a:rPr>
                        <a:t>Contribution</a:t>
                      </a:r>
                    </a:p>
                  </a:txBody>
                  <a:tcPr>
                    <a:solidFill>
                      <a:srgbClr val="1B212A"/>
                    </a:solidFill>
                  </a:tcPr>
                </a:tc>
                <a:tc>
                  <a:txBody>
                    <a:bodyPr/>
                    <a:lstStyle/>
                    <a:p>
                      <a:r>
                        <a:rPr sz="1100" b="1">
                          <a:solidFill>
                            <a:srgbClr val="3B9EFF"/>
                          </a:solidFill>
                        </a:rPr>
                        <a:t>Grade</a:t>
                      </a:r>
                    </a:p>
                  </a:txBody>
                  <a:tcPr>
                    <a:solidFill>
                      <a:srgbClr val="1B212A"/>
                    </a:solidFill>
                  </a:tcPr>
                </a:tc>
                <a:tc>
                  <a:txBody>
                    <a:bodyPr/>
                    <a:lstStyle/>
                    <a:p>
                      <a:r>
                        <a:rPr sz="1100" b="1">
                          <a:solidFill>
                            <a:srgbClr val="3B9EFF"/>
                          </a:solidFill>
                        </a:rPr>
                        <a:t>Note</a:t>
                      </a:r>
                    </a:p>
                  </a:txBody>
                  <a:tcPr>
                    <a:solidFill>
                      <a:srgbClr val="1B212A"/>
                    </a:solidFill>
                  </a:tcPr>
                </a:tc>
              </a:tr>
              <a:tr h="292608">
                <a:tc>
                  <a:txBody>
                    <a:bodyPr/>
                    <a:lstStyle/>
                    <a:p>
                      <a:r>
                        <a:rPr sz="1100">
                          <a:solidFill>
                            <a:srgbClr val="E8ECF1"/>
                          </a:solidFill>
                        </a:rPr>
                        <a:t>N1</a:t>
                      </a:r>
                    </a:p>
                  </a:txBody>
                  <a:tcPr>
                    <a:solidFill>
                      <a:srgbClr val="12161C"/>
                    </a:solidFill>
                  </a:tcPr>
                </a:tc>
                <a:tc>
                  <a:txBody>
                    <a:bodyPr/>
                    <a:lstStyle/>
                    <a:p>
                      <a:r>
                        <a:rPr sz="1100">
                          <a:solidFill>
                            <a:srgbClr val="E8ECF1"/>
                          </a:solidFill>
                        </a:rPr>
                        <a:t>Contract Net task auction</a:t>
                      </a:r>
                    </a:p>
                  </a:txBody>
                  <a:tcPr>
                    <a:solidFill>
                      <a:srgbClr val="12161C"/>
                    </a:solidFill>
                  </a:tcPr>
                </a:tc>
                <a:tc>
                  <a:txBody>
                    <a:bodyPr/>
                    <a:lstStyle/>
                    <a:p>
                      <a:r>
                        <a:rPr sz="1100">
                          <a:solidFill>
                            <a:srgbClr val="E8ECF1"/>
                          </a:solidFill>
                        </a:rPr>
                        <a:t>Incremental</a:t>
                      </a:r>
                    </a:p>
                  </a:txBody>
                  <a:tcPr>
                    <a:solidFill>
                      <a:srgbClr val="12161C"/>
                    </a:solidFill>
                  </a:tcPr>
                </a:tc>
                <a:tc>
                  <a:txBody>
                    <a:bodyPr/>
                    <a:lstStyle/>
                    <a:p>
                      <a:r>
                        <a:rPr sz="1100">
                          <a:solidFill>
                            <a:srgbClr val="E8ECF1"/>
                          </a:solidFill>
                        </a:rPr>
                        <a:t>Known protocol, applied cleanly.</a:t>
                      </a:r>
                    </a:p>
                  </a:txBody>
                  <a:tcPr>
                    <a:solidFill>
                      <a:srgbClr val="12161C"/>
                    </a:solidFill>
                  </a:tcPr>
                </a:tc>
              </a:tr>
              <a:tr h="292608">
                <a:tc>
                  <a:txBody>
                    <a:bodyPr/>
                    <a:lstStyle/>
                    <a:p>
                      <a:r>
                        <a:rPr sz="1100">
                          <a:solidFill>
                            <a:srgbClr val="E8ECF1"/>
                          </a:solidFill>
                        </a:rPr>
                        <a:t>N2</a:t>
                      </a:r>
                    </a:p>
                  </a:txBody>
                  <a:tcPr>
                    <a:solidFill>
                      <a:srgbClr val="1B212A"/>
                    </a:solidFill>
                  </a:tcPr>
                </a:tc>
                <a:tc>
                  <a:txBody>
                    <a:bodyPr/>
                    <a:lstStyle/>
                    <a:p>
                      <a:r>
                        <a:rPr sz="1100">
                          <a:solidFill>
                            <a:srgbClr val="E8ECF1"/>
                          </a:solidFill>
                        </a:rPr>
                        <a:t>Cooperative A* with reservations</a:t>
                      </a:r>
                    </a:p>
                  </a:txBody>
                  <a:tcPr>
                    <a:solidFill>
                      <a:srgbClr val="1B212A"/>
                    </a:solidFill>
                  </a:tcPr>
                </a:tc>
                <a:tc>
                  <a:txBody>
                    <a:bodyPr/>
                    <a:lstStyle/>
                    <a:p>
                      <a:r>
                        <a:rPr sz="1100">
                          <a:solidFill>
                            <a:srgbClr val="E8ECF1"/>
                          </a:solidFill>
                        </a:rPr>
                        <a:t>Table stakes</a:t>
                      </a:r>
                    </a:p>
                  </a:txBody>
                  <a:tcPr>
                    <a:solidFill>
                      <a:srgbClr val="1B212A"/>
                    </a:solidFill>
                  </a:tcPr>
                </a:tc>
                <a:tc>
                  <a:txBody>
                    <a:bodyPr/>
                    <a:lstStyle/>
                    <a:p>
                      <a:r>
                        <a:rPr sz="1100">
                          <a:solidFill>
                            <a:srgbClr val="E8ECF1"/>
                          </a:solidFill>
                        </a:rPr>
                        <a:t>Expected of any serious entry.</a:t>
                      </a:r>
                    </a:p>
                  </a:txBody>
                  <a:tcPr>
                    <a:solidFill>
                      <a:srgbClr val="1B212A"/>
                    </a:solidFill>
                  </a:tcPr>
                </a:tc>
              </a:tr>
              <a:tr h="292608">
                <a:tc>
                  <a:txBody>
                    <a:bodyPr/>
                    <a:lstStyle/>
                    <a:p>
                      <a:r>
                        <a:rPr sz="1100">
                          <a:solidFill>
                            <a:srgbClr val="E8ECF1"/>
                          </a:solidFill>
                        </a:rPr>
                        <a:t>N3</a:t>
                      </a:r>
                    </a:p>
                  </a:txBody>
                  <a:tcPr>
                    <a:solidFill>
                      <a:srgbClr val="12161C"/>
                    </a:solidFill>
                  </a:tcPr>
                </a:tc>
                <a:tc>
                  <a:txBody>
                    <a:bodyPr/>
                    <a:lstStyle/>
                    <a:p>
                      <a:r>
                        <a:rPr sz="1100">
                          <a:solidFill>
                            <a:srgbClr val="E8ECF1"/>
                          </a:solidFill>
                        </a:rPr>
                        <a:t>Deterministic replay by trace hash</a:t>
                      </a:r>
                    </a:p>
                  </a:txBody>
                  <a:tcPr>
                    <a:solidFill>
                      <a:srgbClr val="12161C"/>
                    </a:solidFill>
                  </a:tcPr>
                </a:tc>
                <a:tc>
                  <a:txBody>
                    <a:bodyPr/>
                    <a:lstStyle/>
                    <a:p>
                      <a:r>
                        <a:rPr sz="1100">
                          <a:solidFill>
                            <a:srgbClr val="E8ECF1"/>
                          </a:solidFill>
                        </a:rPr>
                        <a:t>Genuine</a:t>
                      </a:r>
                    </a:p>
                  </a:txBody>
                  <a:tcPr>
                    <a:solidFill>
                      <a:srgbClr val="12161C"/>
                    </a:solidFill>
                  </a:tcPr>
                </a:tc>
                <a:tc>
                  <a:txBody>
                    <a:bodyPr/>
                    <a:lstStyle/>
                    <a:p>
                      <a:r>
                        <a:rPr sz="1100">
                          <a:solidFill>
                            <a:srgbClr val="E8ECF1"/>
                          </a:solidFill>
                        </a:rPr>
                        <a:t>Rare in student fleet work, and it is what makes every other claim checkable.</a:t>
                      </a:r>
                    </a:p>
                  </a:txBody>
                  <a:tcPr>
                    <a:solidFill>
                      <a:srgbClr val="12161C"/>
                    </a:solidFill>
                  </a:tcPr>
                </a:tc>
              </a:tr>
              <a:tr h="292608">
                <a:tc>
                  <a:txBody>
                    <a:bodyPr/>
                    <a:lstStyle/>
                    <a:p>
                      <a:r>
                        <a:rPr sz="1100">
                          <a:solidFill>
                            <a:srgbClr val="E8ECF1"/>
                          </a:solidFill>
                        </a:rPr>
                        <a:t>N4</a:t>
                      </a:r>
                    </a:p>
                  </a:txBody>
                  <a:tcPr>
                    <a:solidFill>
                      <a:srgbClr val="1B212A"/>
                    </a:solidFill>
                  </a:tcPr>
                </a:tc>
                <a:tc>
                  <a:txBody>
                    <a:bodyPr/>
                    <a:lstStyle/>
                    <a:p>
                      <a:r>
                        <a:rPr sz="1100">
                          <a:solidFill>
                            <a:srgbClr val="E8ECF1"/>
                          </a:solidFill>
                        </a:rPr>
                        <a:t>Deadlock detection and resolution</a:t>
                      </a:r>
                    </a:p>
                  </a:txBody>
                  <a:tcPr>
                    <a:solidFill>
                      <a:srgbClr val="1B212A"/>
                    </a:solidFill>
                  </a:tcPr>
                </a:tc>
                <a:tc>
                  <a:txBody>
                    <a:bodyPr/>
                    <a:lstStyle/>
                    <a:p>
                      <a:r>
                        <a:rPr sz="1100">
                          <a:solidFill>
                            <a:srgbClr val="E8ECF1"/>
                          </a:solidFill>
                        </a:rPr>
                        <a:t>Incremental</a:t>
                      </a:r>
                    </a:p>
                  </a:txBody>
                  <a:tcPr>
                    <a:solidFill>
                      <a:srgbClr val="1B212A"/>
                    </a:solidFill>
                  </a:tcPr>
                </a:tc>
                <a:tc>
                  <a:txBody>
                    <a:bodyPr/>
                    <a:lstStyle/>
                    <a:p>
                      <a:r>
                        <a:rPr sz="1100">
                          <a:solidFill>
                            <a:srgbClr val="E8ECF1"/>
                          </a:solidFill>
                        </a:rPr>
                        <a:t>Coffman and Knapp, applied to corridors.</a:t>
                      </a:r>
                    </a:p>
                  </a:txBody>
                  <a:tcPr>
                    <a:solidFill>
                      <a:srgbClr val="1B212A"/>
                    </a:solidFill>
                  </a:tcPr>
                </a:tc>
              </a:tr>
              <a:tr h="292608">
                <a:tc>
                  <a:txBody>
                    <a:bodyPr/>
                    <a:lstStyle/>
                    <a:p>
                      <a:r>
                        <a:rPr sz="1100">
                          <a:solidFill>
                            <a:srgbClr val="E8ECF1"/>
                          </a:solidFill>
                        </a:rPr>
                        <a:t>N5</a:t>
                      </a:r>
                    </a:p>
                  </a:txBody>
                  <a:tcPr>
                    <a:solidFill>
                      <a:srgbClr val="12161C"/>
                    </a:solidFill>
                  </a:tcPr>
                </a:tc>
                <a:tc>
                  <a:txBody>
                    <a:bodyPr/>
                    <a:lstStyle/>
                    <a:p>
                      <a:r>
                        <a:rPr sz="1100">
                          <a:solidFill>
                            <a:srgbClr val="E8ECF1"/>
                          </a:solidFill>
                        </a:rPr>
                        <a:t>Simplex runtime assurance</a:t>
                      </a:r>
                    </a:p>
                  </a:txBody>
                  <a:tcPr>
                    <a:solidFill>
                      <a:srgbClr val="12161C"/>
                    </a:solidFill>
                  </a:tcPr>
                </a:tc>
                <a:tc>
                  <a:txBody>
                    <a:bodyPr/>
                    <a:lstStyle/>
                    <a:p>
                      <a:r>
                        <a:rPr sz="1100">
                          <a:solidFill>
                            <a:srgbClr val="E8ECF1"/>
                          </a:solidFill>
                        </a:rPr>
                        <a:t>Genuine</a:t>
                      </a:r>
                    </a:p>
                  </a:txBody>
                  <a:tcPr>
                    <a:solidFill>
                      <a:srgbClr val="12161C"/>
                    </a:solidFill>
                  </a:tcPr>
                </a:tc>
                <a:tc>
                  <a:txBody>
                    <a:bodyPr/>
                    <a:lstStyle/>
                    <a:p>
                      <a:r>
                        <a:rPr sz="1100">
                          <a:solidFill>
                            <a:srgbClr val="E8ECF1"/>
                          </a:solidFill>
                        </a:rPr>
                        <a:t>A verifiable monitor beneath an unverifiable planner.</a:t>
                      </a:r>
                    </a:p>
                  </a:txBody>
                  <a:tcPr>
                    <a:solidFill>
                      <a:srgbClr val="12161C"/>
                    </a:solidFill>
                  </a:tcPr>
                </a:tc>
              </a:tr>
              <a:tr h="292608">
                <a:tc>
                  <a:txBody>
                    <a:bodyPr/>
                    <a:lstStyle/>
                    <a:p>
                      <a:r>
                        <a:rPr sz="1100">
                          <a:solidFill>
                            <a:srgbClr val="E8ECF1"/>
                          </a:solidFill>
                        </a:rPr>
                        <a:t>N9</a:t>
                      </a:r>
                    </a:p>
                  </a:txBody>
                  <a:tcPr>
                    <a:solidFill>
                      <a:srgbClr val="1B212A"/>
                    </a:solidFill>
                  </a:tcPr>
                </a:tc>
                <a:tc>
                  <a:txBody>
                    <a:bodyPr/>
                    <a:lstStyle/>
                    <a:p>
                      <a:r>
                        <a:rPr sz="1100">
                          <a:solidFill>
                            <a:srgbClr val="E8ECF1"/>
                          </a:solidFill>
                        </a:rPr>
                        <a:t>Adversarial robot containment</a:t>
                      </a:r>
                    </a:p>
                  </a:txBody>
                  <a:tcPr>
                    <a:solidFill>
                      <a:srgbClr val="1B212A"/>
                    </a:solidFill>
                  </a:tcPr>
                </a:tc>
                <a:tc>
                  <a:txBody>
                    <a:bodyPr/>
                    <a:lstStyle/>
                    <a:p>
                      <a:r>
                        <a:rPr sz="1100">
                          <a:solidFill>
                            <a:srgbClr val="E8ECF1"/>
                          </a:solidFill>
                        </a:rPr>
                        <a:t>Genuine</a:t>
                      </a:r>
                    </a:p>
                  </a:txBody>
                  <a:tcPr>
                    <a:solidFill>
                      <a:srgbClr val="1B212A"/>
                    </a:solidFill>
                  </a:tcPr>
                </a:tc>
                <a:tc>
                  <a:txBody>
                    <a:bodyPr/>
                    <a:lstStyle/>
                    <a:p>
                      <a:r>
                        <a:rPr sz="1100">
                          <a:solidFill>
                            <a:srgbClr val="E8ECF1"/>
                          </a:solidFill>
                        </a:rPr>
                        <a:t>A lying robot is detected, quarantined and routed around. Most BEL-relevant behaviour.</a:t>
                      </a:r>
                    </a:p>
                  </a:txBody>
                  <a:tcPr>
                    <a:solidFill>
                      <a:srgbClr val="1B212A"/>
                    </a:solidFill>
                  </a:tcPr>
                </a:tc>
              </a:tr>
              <a:tr h="292608">
                <a:tc>
                  <a:txBody>
                    <a:bodyPr/>
                    <a:lstStyle/>
                    <a:p>
                      <a:r>
                        <a:rPr sz="1100">
                          <a:solidFill>
                            <a:srgbClr val="E8ECF1"/>
                          </a:solidFill>
                        </a:rPr>
                        <a:t>N10</a:t>
                      </a:r>
                    </a:p>
                  </a:txBody>
                  <a:tcPr>
                    <a:solidFill>
                      <a:srgbClr val="12161C"/>
                    </a:solidFill>
                  </a:tcPr>
                </a:tc>
                <a:tc>
                  <a:txBody>
                    <a:bodyPr/>
                    <a:lstStyle/>
                    <a:p>
                      <a:r>
                        <a:rPr sz="1100">
                          <a:solidFill>
                            <a:srgbClr val="E8ECF1"/>
                          </a:solidFill>
                        </a:rPr>
                        <a:t>Counterfactual co-simulation</a:t>
                      </a:r>
                    </a:p>
                  </a:txBody>
                  <a:tcPr>
                    <a:solidFill>
                      <a:srgbClr val="12161C"/>
                    </a:solidFill>
                  </a:tcPr>
                </a:tc>
                <a:tc>
                  <a:txBody>
                    <a:bodyPr/>
                    <a:lstStyle/>
                    <a:p>
                      <a:r>
                        <a:rPr sz="1100">
                          <a:solidFill>
                            <a:srgbClr val="E8ECF1"/>
                          </a:solidFill>
                        </a:rPr>
                        <a:t>Genuine</a:t>
                      </a:r>
                    </a:p>
                  </a:txBody>
                  <a:tcPr>
                    <a:solidFill>
                      <a:srgbClr val="12161C"/>
                    </a:solidFill>
                  </a:tcPr>
                </a:tc>
                <a:tc>
                  <a:txBody>
                    <a:bodyPr/>
                    <a:lstStyle/>
                    <a:p>
                      <a:r>
                        <a:rPr sz="1100">
                          <a:solidFill>
                            <a:srgbClr val="E8ECF1"/>
                          </a:solidFill>
                        </a:rPr>
                        <a:t>Fork the live world and run the baseline against the same future.</a:t>
                      </a:r>
                    </a:p>
                  </a:txBody>
                  <a:tcPr>
                    <a:solidFill>
                      <a:srgbClr val="12161C"/>
                    </a:solidFill>
                  </a:tcPr>
                </a:tc>
              </a:tr>
              <a:tr h="292608">
                <a:tc>
                  <a:txBody>
                    <a:bodyPr/>
                    <a:lstStyle/>
                    <a:p>
                      <a:r>
                        <a:rPr sz="1100">
                          <a:solidFill>
                            <a:srgbClr val="E8ECF1"/>
                          </a:solidFill>
                        </a:rPr>
                        <a:t>X-01</a:t>
                      </a:r>
                    </a:p>
                  </a:txBody>
                  <a:tcPr>
                    <a:solidFill>
                      <a:srgbClr val="1B212A"/>
                    </a:solidFill>
                  </a:tcPr>
                </a:tc>
                <a:tc>
                  <a:txBody>
                    <a:bodyPr/>
                    <a:lstStyle/>
                    <a:p>
                      <a:r>
                        <a:rPr sz="1100">
                          <a:solidFill>
                            <a:srgbClr val="E8ECF1"/>
                          </a:solidFill>
                        </a:rPr>
                        <a:t>Sovereign agent mode</a:t>
                      </a:r>
                    </a:p>
                  </a:txBody>
                  <a:tcPr>
                    <a:solidFill>
                      <a:srgbClr val="1B212A"/>
                    </a:solidFill>
                  </a:tcPr>
                </a:tc>
                <a:tc>
                  <a:txBody>
                    <a:bodyPr/>
                    <a:lstStyle/>
                    <a:p>
                      <a:r>
                        <a:rPr sz="1100">
                          <a:solidFill>
                            <a:srgbClr val="E8ECF1"/>
                          </a:solidFill>
                        </a:rPr>
                        <a:t>Genuine</a:t>
                      </a:r>
                    </a:p>
                  </a:txBody>
                  <a:tcPr>
                    <a:solidFill>
                      <a:srgbClr val="1B212A"/>
                    </a:solidFill>
                  </a:tcPr>
                </a:tc>
                <a:tc>
                  <a:txBody>
                    <a:bodyPr/>
                    <a:lstStyle/>
                    <a:p>
                      <a:r>
                        <a:rPr sz="1100">
                          <a:solidFill>
                            <a:srgbClr val="E8ECF1"/>
                          </a:solidFill>
                        </a:rPr>
                        <a:t>A deaf robot tightens its own envelope and keeps working.</a:t>
                      </a:r>
                    </a:p>
                  </a:txBody>
                  <a:tcPr>
                    <a:solidFill>
                      <a:srgbClr val="1B212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5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N9 - Adversarial robot containment</a:t>
            </a:r>
          </a:p>
          <a:p>
            <a:pPr>
              <a:spcAft>
                <a:spcPts val="400"/>
              </a:spcAft>
            </a:pPr>
            <a:r>
              <a:rPr sz="1300" b="0">
                <a:solidFill>
                  <a:srgbClr val="93A1B2"/>
                </a:solidFill>
                <a:latin typeface="Calibri"/>
              </a:rPr>
              <a:t>The behaviour BEL will care about most</a:t>
            </a:r>
          </a:p>
        </p:txBody>
      </p:sp>
      <p:sp>
        <p:nvSpPr>
          <p:cNvPr id="4" name="Rounded Rectangle 3"/>
          <p:cNvSpPr/>
          <p:nvPr/>
        </p:nvSpPr>
        <p:spPr>
          <a:xfrm>
            <a:off x="502920" y="1737360"/>
            <a:ext cx="2555748" cy="182880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F2B137"/>
                </a:solidFill>
                <a:latin typeface="Calibri"/>
              </a:rPr>
              <a:t>Detect</a:t>
            </a:r>
          </a:p>
          <a:p>
            <a:pPr>
              <a:spcAft>
                <a:spcPts val="400"/>
              </a:spcAft>
            </a:pPr>
            <a:r>
              <a:rPr sz="1000" b="0">
                <a:solidFill>
                  <a:srgbClr val="93A1B2"/>
                </a:solidFill>
                <a:latin typeface="Calibri"/>
              </a:rPr>
              <a:t>A robot's declared intent stops matching its observed motion. Declared and observed are compared every tick.</a:t>
            </a:r>
          </a:p>
        </p:txBody>
      </p:sp>
      <p:sp>
        <p:nvSpPr>
          <p:cNvPr id="5" name="TextBox 4"/>
          <p:cNvSpPr txBox="1"/>
          <p:nvPr/>
        </p:nvSpPr>
        <p:spPr>
          <a:xfrm>
            <a:off x="3076956" y="245059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6" name="Rounded Rectangle 5"/>
          <p:cNvSpPr/>
          <p:nvPr/>
        </p:nvSpPr>
        <p:spPr>
          <a:xfrm>
            <a:off x="3369563" y="1737360"/>
            <a:ext cx="2555748" cy="182880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F2B137"/>
                </a:solidFill>
                <a:latin typeface="Calibri"/>
              </a:rPr>
              <a:t>Suspect</a:t>
            </a:r>
          </a:p>
          <a:p>
            <a:pPr>
              <a:spcAft>
                <a:spcPts val="400"/>
              </a:spcAft>
            </a:pPr>
            <a:r>
              <a:rPr sz="1000" b="0">
                <a:solidFill>
                  <a:srgbClr val="93A1B2"/>
                </a:solidFill>
                <a:latin typeface="Calibri"/>
              </a:rPr>
              <a:t>Its claims are discounted in the utility contest, but it is not yet cut off. Faults look like this too.</a:t>
            </a:r>
          </a:p>
        </p:txBody>
      </p:sp>
      <p:sp>
        <p:nvSpPr>
          <p:cNvPr id="7" name="TextBox 6"/>
          <p:cNvSpPr txBox="1"/>
          <p:nvPr/>
        </p:nvSpPr>
        <p:spPr>
          <a:xfrm>
            <a:off x="5943599" y="245059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8" name="Rounded Rectangle 7"/>
          <p:cNvSpPr/>
          <p:nvPr/>
        </p:nvSpPr>
        <p:spPr>
          <a:xfrm>
            <a:off x="6236207" y="1737360"/>
            <a:ext cx="2555748" cy="1828800"/>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A97BFF"/>
                </a:solidFill>
                <a:latin typeface="Calibri"/>
              </a:rPr>
              <a:t>Quarantine</a:t>
            </a:r>
          </a:p>
          <a:p>
            <a:pPr>
              <a:spcAft>
                <a:spcPts val="400"/>
              </a:spcAft>
            </a:pPr>
            <a:r>
              <a:rPr sz="1000" b="0">
                <a:solidFill>
                  <a:srgbClr val="93A1B2"/>
                </a:solidFill>
                <a:latin typeface="Calibri"/>
              </a:rPr>
              <a:t>Confirmed rogue. Its reservations are voided and its messages are dropped at the radio layer.</a:t>
            </a:r>
          </a:p>
        </p:txBody>
      </p:sp>
      <p:sp>
        <p:nvSpPr>
          <p:cNvPr id="9" name="TextBox 8"/>
          <p:cNvSpPr txBox="1"/>
          <p:nvPr/>
        </p:nvSpPr>
        <p:spPr>
          <a:xfrm>
            <a:off x="8810243" y="245059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0" name="Rounded Rectangle 9"/>
          <p:cNvSpPr/>
          <p:nvPr/>
        </p:nvSpPr>
        <p:spPr>
          <a:xfrm>
            <a:off x="9102852" y="1737360"/>
            <a:ext cx="2555748" cy="18288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35C78A"/>
                </a:solidFill>
                <a:latin typeface="Calibri"/>
              </a:rPr>
              <a:t>Route around</a:t>
            </a:r>
          </a:p>
          <a:p>
            <a:pPr>
              <a:spcAft>
                <a:spcPts val="400"/>
              </a:spcAft>
            </a:pPr>
            <a:r>
              <a:rPr sz="1000" b="0">
                <a:solidFill>
                  <a:srgbClr val="93A1B2"/>
                </a:solidFill>
                <a:latin typeface="Calibri"/>
              </a:rPr>
              <a:t>Peers treat it as a moving obstacle with a widened envelope and keep working.</a:t>
            </a:r>
          </a:p>
        </p:txBody>
      </p:sp>
      <p:sp>
        <p:nvSpPr>
          <p:cNvPr id="11" name="TextBox 10"/>
          <p:cNvSpPr txBox="1"/>
          <p:nvPr/>
        </p:nvSpPr>
        <p:spPr>
          <a:xfrm>
            <a:off x="502920" y="4023360"/>
            <a:ext cx="11155680" cy="5120640"/>
          </a:xfrm>
          <a:prstGeom prst="rect">
            <a:avLst/>
          </a:prstGeom>
          <a:noFill/>
        </p:spPr>
        <p:txBody>
          <a:bodyPr wrap="square">
            <a:spAutoFit/>
          </a:bodyPr>
          <a:lstStyle/>
          <a:p>
            <a:pPr>
              <a:spcAft>
                <a:spcPts val="1000"/>
              </a:spcAft>
            </a:pPr>
            <a:r>
              <a:rPr sz="1400" b="0">
                <a:solidFill>
                  <a:srgbClr val="E8ECF1"/>
                </a:solidFill>
                <a:latin typeface="Calibri"/>
              </a:rPr>
              <a:t>The important property is that containment is a local decision. There is no central authority to declare a robot rogue, so the mechanism still works when the network is partitioned - which is exactly when you would want it to.</a:t>
            </a:r>
          </a:p>
          <a:p>
            <a:pPr>
              <a:spcAft>
                <a:spcPts val="1000"/>
              </a:spcAft>
            </a:pPr>
            <a:r>
              <a:rPr sz="1400" b="0">
                <a:solidFill>
                  <a:srgbClr val="E8ECF1"/>
                </a:solidFill>
                <a:latin typeface="Calibri"/>
              </a:rPr>
              <a:t>A quarantined robot is drawn in its own colour in the control centre, so the operator sees containment happen rather than reading about it afterwards.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4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X-01 - Sovereign agent mode</a:t>
            </a:r>
          </a:p>
          <a:p>
            <a:pPr>
              <a:spcAft>
                <a:spcPts val="400"/>
              </a:spcAft>
            </a:pPr>
            <a:r>
              <a:rPr sz="1300" b="0">
                <a:solidFill>
                  <a:srgbClr val="93A1B2"/>
                </a:solidFill>
                <a:latin typeface="Calibri"/>
              </a:rPr>
              <a:t>What a robot does when it can no longer hear anyone</a:t>
            </a:r>
          </a:p>
        </p:txBody>
      </p:sp>
      <p:sp>
        <p:nvSpPr>
          <p:cNvPr id="4" name="Rounded Rectangle 3"/>
          <p:cNvSpPr/>
          <p:nvPr/>
        </p:nvSpPr>
        <p:spPr>
          <a:xfrm>
            <a:off x="502920" y="1234440"/>
            <a:ext cx="5394960" cy="4572000"/>
          </a:xfrm>
          <a:prstGeom prst="roundRect">
            <a:avLst/>
          </a:prstGeom>
          <a:solidFill>
            <a:srgbClr val="1B212A"/>
          </a:solidFill>
          <a:ln w="15875">
            <a:solidFill>
              <a:srgbClr val="E55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E55B5B"/>
                </a:solidFill>
                <a:latin typeface="Calibri"/>
              </a:rPr>
              <a:t>The failure we refused to ignore</a:t>
            </a:r>
          </a:p>
          <a:p>
            <a:pPr>
              <a:spcAft>
                <a:spcPts val="600"/>
              </a:spcAft>
            </a:pPr>
            <a:r>
              <a:rPr sz="1200" b="0">
                <a:solidFill>
                  <a:srgbClr val="E8ECF1"/>
                </a:solidFill>
                <a:latin typeface="Calibri"/>
              </a:rPr>
              <a:t>Every decentralised scheme assumes the robot can hear somebody. Radio dies. Then the robot has no peers, no reservations it can trust, and no arbiter.</a:t>
            </a:r>
          </a:p>
          <a:p>
            <a:pPr>
              <a:spcAft>
                <a:spcPts val="600"/>
              </a:spcAft>
            </a:pPr>
            <a:r>
              <a:rPr sz="1200" b="0">
                <a:solidFill>
                  <a:srgbClr val="E8ECF1"/>
                </a:solidFill>
                <a:latin typeface="Calibri"/>
              </a:rPr>
              <a:t>The usual answer is to stop dead. In a warehouse aisle, a stopped robot is itself a hazard and a throughput loss.</a:t>
            </a:r>
          </a:p>
          <a:p>
            <a:pPr>
              <a:spcAft>
                <a:spcPts val="600"/>
              </a:spcAft>
            </a:pPr>
            <a:r>
              <a:rPr sz="1200" b="0">
                <a:solidFill>
                  <a:srgbClr val="E8ECF1"/>
                </a:solidFill>
                <a:latin typeface="Calibri"/>
              </a:rPr>
              <a:t>So we gave it a third option: keep working, but under an envelope it can guarantee alone.</a:t>
            </a:r>
          </a:p>
        </p:txBody>
      </p:sp>
      <p:sp>
        <p:nvSpPr>
          <p:cNvPr id="5" name="Rounded Rectangle 4"/>
          <p:cNvSpPr/>
          <p:nvPr/>
        </p:nvSpPr>
        <p:spPr>
          <a:xfrm>
            <a:off x="6263640" y="1234440"/>
            <a:ext cx="5394960" cy="457200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4FB3A6"/>
                </a:solidFill>
                <a:latin typeface="Calibri"/>
              </a:rPr>
              <a:t>What sovereign mode actually does</a:t>
            </a:r>
          </a:p>
          <a:p>
            <a:pPr>
              <a:spcAft>
                <a:spcPts val="600"/>
              </a:spcAft>
            </a:pPr>
            <a:r>
              <a:rPr sz="1200" b="0">
                <a:solidFill>
                  <a:srgbClr val="E8ECF1"/>
                </a:solidFill>
                <a:latin typeface="Calibri"/>
              </a:rPr>
              <a:t>Entered only after 5 consecutive confirmation ticks of silence, so a single dropped frame does not trigger it.</a:t>
            </a:r>
          </a:p>
          <a:p>
            <a:pPr>
              <a:spcAft>
                <a:spcPts val="600"/>
              </a:spcAft>
            </a:pPr>
            <a:r>
              <a:rPr sz="1200" b="0">
                <a:solidFill>
                  <a:srgbClr val="E8ECF1"/>
                </a:solidFill>
                <a:latin typeface="Calibri"/>
              </a:rPr>
              <a:t>Speed is capped at 0.5 of nominal and the clearance margin widens by 0.35 m - it buys safety with time.</a:t>
            </a:r>
          </a:p>
          <a:p>
            <a:pPr>
              <a:spcAft>
                <a:spcPts val="600"/>
              </a:spcAft>
            </a:pPr>
            <a:r>
              <a:rPr sz="1200" b="0">
                <a:solidFill>
                  <a:srgbClr val="E8ECF1"/>
                </a:solidFill>
                <a:latin typeface="Calibri"/>
              </a:rPr>
              <a:t>It honours only reservations it already holds, and requests nothing new, because it cannot hear a refusal.</a:t>
            </a:r>
          </a:p>
          <a:p>
            <a:pPr>
              <a:spcAft>
                <a:spcPts val="600"/>
              </a:spcAft>
            </a:pPr>
            <a:r>
              <a:rPr sz="1200" b="0">
                <a:solidFill>
                  <a:srgbClr val="E8ECF1"/>
                </a:solidFill>
                <a:latin typeface="Calibri"/>
              </a:rPr>
              <a:t>Distinct colour in the control centre and a distinct KPI (robots_sovereign), so degradation is visible, not silent.</a:t>
            </a:r>
          </a:p>
        </p:txBody>
      </p:sp>
      <p:sp>
        <p:nvSpPr>
          <p:cNvPr id="6" name="Rounded Rectangle 5"/>
          <p:cNvSpPr/>
          <p:nvPr/>
        </p:nvSpPr>
        <p:spPr>
          <a:xfrm>
            <a:off x="502920" y="5989320"/>
            <a:ext cx="11155680" cy="566928"/>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This is graceful degradation with a stated envelope rather than a fail-stop - and it is the answer to 'what happens when your network goes down?'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X-23 / X-24 / X-25 - claims turned into receipts</a:t>
            </a:r>
          </a:p>
          <a:p>
            <a:pPr>
              <a:spcAft>
                <a:spcPts val="400"/>
              </a:spcAft>
            </a:pPr>
            <a:r>
              <a:rPr sz="1300" b="0">
                <a:solidFill>
                  <a:srgbClr val="93A1B2"/>
                </a:solidFill>
                <a:latin typeface="Calibri"/>
              </a:rPr>
              <a:t>16 tests whose only job is to make three claims falsifiable</a:t>
            </a:r>
          </a:p>
        </p:txBody>
      </p:sp>
      <p:graphicFrame>
        <p:nvGraphicFramePr>
          <p:cNvPr id="4" name="Table 3"/>
          <p:cNvGraphicFramePr>
            <a:graphicFrameLocks noGrp="1"/>
          </p:cNvGraphicFramePr>
          <p:nvPr/>
        </p:nvGraphicFramePr>
        <p:xfrm>
          <a:off x="502920" y="1371600"/>
          <a:ext cx="11155680" cy="1170432"/>
        </p:xfrm>
        <a:graphic>
          <a:graphicData uri="http://schemas.openxmlformats.org/drawingml/2006/table">
            <a:tbl>
              <a:tblPr firstRow="1" bandRow="1">
                <a:tableStyleId>{5C22544A-7EE6-4342-B048-85BDC9FD1C3A}</a:tableStyleId>
              </a:tblPr>
              <a:tblGrid>
                <a:gridCol w="731520"/>
                <a:gridCol w="3108960"/>
                <a:gridCol w="7315200"/>
              </a:tblGrid>
              <a:tr h="292608">
                <a:tc>
                  <a:txBody>
                    <a:bodyPr/>
                    <a:lstStyle/>
                    <a:p/>
                  </a:txBody>
                  <a:tcPr>
                    <a:solidFill>
                      <a:srgbClr val="1B212A"/>
                    </a:solidFill>
                  </a:tcPr>
                </a:tc>
                <a:tc>
                  <a:txBody>
                    <a:bodyPr/>
                    <a:lstStyle/>
                    <a:p>
                      <a:r>
                        <a:rPr sz="1200" b="1">
                          <a:solidFill>
                            <a:srgbClr val="3B9EFF"/>
                          </a:solidFill>
                        </a:rPr>
                        <a:t>Mechanism</a:t>
                      </a:r>
                    </a:p>
                  </a:txBody>
                  <a:tcPr>
                    <a:solidFill>
                      <a:srgbClr val="1B212A"/>
                    </a:solidFill>
                  </a:tcPr>
                </a:tc>
                <a:tc>
                  <a:txBody>
                    <a:bodyPr/>
                    <a:lstStyle/>
                    <a:p>
                      <a:r>
                        <a:rPr sz="1200" b="1">
                          <a:solidFill>
                            <a:srgbClr val="3B9EFF"/>
                          </a:solidFill>
                        </a:rPr>
                        <a:t>What the tests actually pin</a:t>
                      </a:r>
                    </a:p>
                  </a:txBody>
                  <a:tcPr>
                    <a:solidFill>
                      <a:srgbClr val="1B212A"/>
                    </a:solidFill>
                  </a:tcPr>
                </a:tc>
              </a:tr>
              <a:tr h="292608">
                <a:tc>
                  <a:txBody>
                    <a:bodyPr/>
                    <a:lstStyle/>
                    <a:p>
                      <a:r>
                        <a:rPr sz="1200">
                          <a:solidFill>
                            <a:srgbClr val="E8ECF1"/>
                          </a:solidFill>
                        </a:rPr>
                        <a:t>X-23</a:t>
                      </a:r>
                    </a:p>
                  </a:txBody>
                  <a:tcPr>
                    <a:solidFill>
                      <a:srgbClr val="12161C"/>
                    </a:solidFill>
                  </a:tcPr>
                </a:tc>
                <a:tc>
                  <a:txBody>
                    <a:bodyPr/>
                    <a:lstStyle/>
                    <a:p>
                      <a:r>
                        <a:rPr sz="1200">
                          <a:solidFill>
                            <a:srgbClr val="E8ECF1"/>
                          </a:solidFill>
                        </a:rPr>
                        <a:t>Failure detection and reservation GC</a:t>
                      </a:r>
                    </a:p>
                  </a:txBody>
                  <a:tcPr>
                    <a:solidFill>
                      <a:srgbClr val="12161C"/>
                    </a:solidFill>
                  </a:tcPr>
                </a:tc>
                <a:tc>
                  <a:txBody>
                    <a:bodyPr/>
                    <a:lstStyle/>
                    <a:p>
                      <a:r>
                        <a:rPr sz="1200">
                          <a:solidFill>
                            <a:srgbClr val="E8ECF1"/>
                          </a:solidFill>
                        </a:rPr>
                        <a:t>A SUSPECTED peer does not free its corridor; only a CONFIRMED failure does. A transient outage never reaches collection.</a:t>
                      </a:r>
                    </a:p>
                  </a:txBody>
                  <a:tcPr>
                    <a:solidFill>
                      <a:srgbClr val="12161C"/>
                    </a:solidFill>
                  </a:tcPr>
                </a:tc>
              </a:tr>
              <a:tr h="292608">
                <a:tc>
                  <a:txBody>
                    <a:bodyPr/>
                    <a:lstStyle/>
                    <a:p>
                      <a:r>
                        <a:rPr sz="1200">
                          <a:solidFill>
                            <a:srgbClr val="E8ECF1"/>
                          </a:solidFill>
                        </a:rPr>
                        <a:t>X-24</a:t>
                      </a:r>
                    </a:p>
                  </a:txBody>
                  <a:tcPr>
                    <a:solidFill>
                      <a:srgbClr val="1B212A"/>
                    </a:solidFill>
                  </a:tcPr>
                </a:tc>
                <a:tc>
                  <a:txBody>
                    <a:bodyPr/>
                    <a:lstStyle/>
                    <a:p>
                      <a:r>
                        <a:rPr sz="1200">
                          <a:solidFill>
                            <a:srgbClr val="E8ECF1"/>
                          </a:solidFill>
                        </a:rPr>
                        <a:t>Deterministic arbitration</a:t>
                      </a:r>
                    </a:p>
                  </a:txBody>
                  <a:tcPr>
                    <a:solidFill>
                      <a:srgbClr val="1B212A"/>
                    </a:solidFill>
                  </a:tcPr>
                </a:tc>
                <a:tc>
                  <a:txBody>
                    <a:bodyPr/>
                    <a:lstStyle/>
                    <a:p>
                      <a:r>
                        <a:rPr sz="1200">
                          <a:solidFill>
                            <a:srgbClr val="E8ECF1"/>
                          </a:solidFill>
                        </a:rPr>
                        <a:t>The same encounter always resolves the same way, independent of dict insertion order. A symmetric tie breaks by id and stays broken.</a:t>
                      </a:r>
                    </a:p>
                  </a:txBody>
                  <a:tcPr>
                    <a:solidFill>
                      <a:srgbClr val="1B212A"/>
                    </a:solidFill>
                  </a:tcPr>
                </a:tc>
              </a:tr>
              <a:tr h="292608">
                <a:tc>
                  <a:txBody>
                    <a:bodyPr/>
                    <a:lstStyle/>
                    <a:p>
                      <a:r>
                        <a:rPr sz="1200">
                          <a:solidFill>
                            <a:srgbClr val="E8ECF1"/>
                          </a:solidFill>
                        </a:rPr>
                        <a:t>X-25</a:t>
                      </a:r>
                    </a:p>
                  </a:txBody>
                  <a:tcPr>
                    <a:solidFill>
                      <a:srgbClr val="12161C"/>
                    </a:solidFill>
                  </a:tcPr>
                </a:tc>
                <a:tc>
                  <a:txBody>
                    <a:bodyPr/>
                    <a:lstStyle/>
                    <a:p>
                      <a:r>
                        <a:rPr sz="1200">
                          <a:solidFill>
                            <a:srgbClr val="E8ECF1"/>
                          </a:solidFill>
                        </a:rPr>
                        <a:t>Bounded radio, O(k) cost</a:t>
                      </a:r>
                    </a:p>
                  </a:txBody>
                  <a:tcPr>
                    <a:solidFill>
                      <a:srgbClr val="12161C"/>
                    </a:solidFill>
                  </a:tcPr>
                </a:tc>
                <a:tc>
                  <a:txBody>
                    <a:bodyPr/>
                    <a:lstStyle/>
                    <a:p>
                      <a:r>
                        <a:rPr sz="1200">
                          <a:solidFill>
                            <a:srgbClr val="E8ECF1"/>
                          </a:solidFill>
                        </a:rPr>
                        <a:t>A failure notice is a local event. Neighbour count tracks density, not fleet size: 8, 32 and 64 robots on the same pitch all give an interior robot exactly 2 neighbours.</a:t>
                      </a:r>
                    </a:p>
                  </a:txBody>
                  <a:tcPr>
                    <a:solidFill>
                      <a:srgbClr val="12161C"/>
                    </a:solidFill>
                  </a:tcPr>
                </a:tc>
              </a:tr>
            </a:tbl>
          </a:graphicData>
        </a:graphic>
      </p:graphicFrame>
      <p:sp>
        <p:nvSpPr>
          <p:cNvPr id="5" name="TextBox 4"/>
          <p:cNvSpPr txBox="1"/>
          <p:nvPr/>
        </p:nvSpPr>
        <p:spPr>
          <a:xfrm>
            <a:off x="502920" y="3977639"/>
            <a:ext cx="11155680" cy="5120640"/>
          </a:xfrm>
          <a:prstGeom prst="rect">
            <a:avLst/>
          </a:prstGeom>
          <a:noFill/>
        </p:spPr>
        <p:txBody>
          <a:bodyPr wrap="square">
            <a:spAutoFit/>
          </a:bodyPr>
          <a:lstStyle/>
          <a:p>
            <a:pPr>
              <a:spcAft>
                <a:spcPts val="1000"/>
              </a:spcAft>
            </a:pPr>
            <a:r>
              <a:rPr sz="1400" b="0">
                <a:solidFill>
                  <a:srgbClr val="E8ECF1"/>
                </a:solidFill>
                <a:latin typeface="Calibri"/>
              </a:rPr>
              <a:t>The X-25 density test is the one worth showing. It is the difference between a system that scales and a system that merely runs at the size we happened to demo.</a:t>
            </a:r>
          </a:p>
          <a:p>
            <a:pPr>
              <a:spcAft>
                <a:spcPts val="1000"/>
              </a:spcAft>
            </a:pPr>
            <a:r>
              <a:rPr sz="1400" b="0">
                <a:solidFill>
                  <a:srgbClr val="E8ECF1"/>
                </a:solidFill>
                <a:latin typeface="Calibri"/>
              </a:rPr>
              <a:t>During development these tests caught a real mistake: we had guessed the FailureEvent field names. The test was corrected to the production contract, not the other way round.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Success criteria - measured</a:t>
            </a:r>
          </a:p>
          <a:p>
            <a:pPr>
              <a:spcAft>
                <a:spcPts val="400"/>
              </a:spcAft>
            </a:pPr>
            <a:r>
              <a:rPr sz="1300" b="0">
                <a:solidFill>
                  <a:srgbClr val="93A1B2"/>
                </a:solidFill>
                <a:latin typeface="Calibri"/>
              </a:rPr>
              <a:t>C1 met after two real defects were fixed. C2 met for the product default in a frozen simulation benchmark (v3) - mostly reliability.</a:t>
            </a:r>
          </a:p>
        </p:txBody>
      </p:sp>
      <p:sp>
        <p:nvSpPr>
          <p:cNvPr id="4" name="Rounded Rectangle 3"/>
          <p:cNvSpPr/>
          <p:nvPr/>
        </p:nvSpPr>
        <p:spPr>
          <a:xfrm>
            <a:off x="502920" y="1325880"/>
            <a:ext cx="2617470" cy="128016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+48.9 pct</a:t>
            </a:r>
          </a:p>
          <a:p>
            <a:pPr>
              <a:spcAft>
                <a:spcPts val="400"/>
              </a:spcAft>
            </a:pPr>
            <a:r>
              <a:rPr sz="1100" b="0">
                <a:solidFill>
                  <a:srgbClr val="93A1B2"/>
                </a:solidFill>
                <a:latin typeface="Calibri"/>
              </a:rPr>
              <a:t>C2 v3, CI [+35.3, +62.5], sim</a:t>
            </a:r>
          </a:p>
        </p:txBody>
      </p:sp>
      <p:sp>
        <p:nvSpPr>
          <p:cNvPr id="5" name="Rounded Rectangle 4"/>
          <p:cNvSpPr/>
          <p:nvPr/>
        </p:nvSpPr>
        <p:spPr>
          <a:xfrm>
            <a:off x="3348989" y="1325880"/>
            <a:ext cx="2617470" cy="128016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40/40 vs 21/40</a:t>
            </a:r>
          </a:p>
          <a:p>
            <a:pPr>
              <a:spcAft>
                <a:spcPts val="400"/>
              </a:spcAft>
            </a:pPr>
            <a:r>
              <a:rPr sz="1100" b="0">
                <a:solidFill>
                  <a:srgbClr val="93A1B2"/>
                </a:solidFill>
                <a:latin typeface="Calibri"/>
              </a:rPr>
              <a:t>batches finished (overlap)</a:t>
            </a:r>
          </a:p>
        </p:txBody>
      </p:sp>
      <p:sp>
        <p:nvSpPr>
          <p:cNvPr id="6" name="Rounded Rectangle 5"/>
          <p:cNvSpPr/>
          <p:nvPr/>
        </p:nvSpPr>
        <p:spPr>
          <a:xfrm>
            <a:off x="6195059" y="1325880"/>
            <a:ext cx="2617470" cy="128016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F2B137"/>
                </a:solidFill>
                <a:latin typeface="Calibri"/>
              </a:rPr>
              <a:t>+17.5 pct</a:t>
            </a:r>
          </a:p>
          <a:p>
            <a:pPr>
              <a:spcAft>
                <a:spcPts val="400"/>
              </a:spcAft>
            </a:pPr>
            <a:r>
              <a:rPr sz="1100" b="0">
                <a:solidFill>
                  <a:srgbClr val="93A1B2"/>
                </a:solidFill>
                <a:latin typeface="Calibri"/>
              </a:rPr>
              <a:t>both-finished speed, CI [+1.4, +33.6]</a:t>
            </a:r>
          </a:p>
        </p:txBody>
      </p:sp>
      <p:sp>
        <p:nvSpPr>
          <p:cNvPr id="7" name="Rounded Rectangle 6"/>
          <p:cNvSpPr/>
          <p:nvPr/>
        </p:nvSpPr>
        <p:spPr>
          <a:xfrm>
            <a:off x="9041130" y="1325880"/>
            <a:ext cx="2617470" cy="128016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0</a:t>
            </a:r>
          </a:p>
          <a:p>
            <a:pPr>
              <a:spcAft>
                <a:spcPts val="400"/>
              </a:spcAft>
            </a:pPr>
            <a:r>
              <a:rPr sz="1100" b="0">
                <a:solidFill>
                  <a:srgbClr val="93A1B2"/>
                </a:solidFill>
                <a:latin typeface="Calibri"/>
              </a:rPr>
              <a:t>collisions, 240 runs</a:t>
            </a:r>
          </a:p>
        </p:txBody>
      </p:sp>
      <p:sp>
        <p:nvSpPr>
          <p:cNvPr id="8" name="TextBox 7"/>
          <p:cNvSpPr txBox="1"/>
          <p:nvPr/>
        </p:nvSpPr>
        <p:spPr>
          <a:xfrm>
            <a:off x="502920" y="2834640"/>
            <a:ext cx="11155680" cy="5120640"/>
          </a:xfrm>
          <a:prstGeom prst="rect">
            <a:avLst/>
          </a:prstGeom>
          <a:noFill/>
        </p:spPr>
        <p:txBody>
          <a:bodyPr wrap="square">
            <a:spAutoFit/>
          </a:bodyPr>
          <a:lstStyle/>
          <a:p>
            <a:pPr>
              <a:spcAft>
                <a:spcPts val="900"/>
              </a:spcAft>
            </a:pPr>
            <a:r>
              <a:rPr sz="1300" b="0">
                <a:solidFill>
                  <a:srgbClr val="E8ECF1"/>
                </a:solidFill>
                <a:latin typeface="Calibri"/>
              </a:rPr>
              <a:t>C1: met on the current code - 27 paired runs, 3 scenarios, 9 seeds, 9000 ticks. It was NOT met a week ago. The 1800-tick run that reported PASS never reached the failure, which first appears at tick 700. Next slide is that story.</a:t>
            </a:r>
          </a:p>
          <a:p>
            <a:pPr>
              <a:spcAft>
                <a:spcPts val="900"/>
              </a:spcAft>
            </a:pPr>
            <a:r>
              <a:rPr sz="1300" b="0">
                <a:solidFill>
                  <a:srgbClr val="E8ECF1"/>
                </a:solidFill>
                <a:latin typeface="Calibri"/>
              </a:rPr>
              <a:t>C1 is necessary, not differentiating: the stop-and-wait control is collision-free too. What it shows is that negotiation, containment and sovereign fallback did not cost us safety - not that they bought it.</a:t>
            </a:r>
          </a:p>
          <a:p>
            <a:pPr>
              <a:spcAft>
                <a:spcPts val="900"/>
              </a:spcAft>
            </a:pPr>
            <a:r>
              <a:rPr sz="1300" b="0">
                <a:solidFill>
                  <a:srgbClr val="E8ECF1"/>
                </a:solidFill>
                <a:latin typeface="Calibri"/>
              </a:rPr>
              <a:t>C2 (current): frozen protocol v3, product default (F1+F3+F5+F6, F2 off, 0.75 m floor) vs textbook stop-and-wait + F1 + F6 on overlap_batch, 40 fresh seeds: +48.9 percent, 95 percent CI [+35.3, +62.5]; 40/40 vs 21/40 finished; all five frozen conditions passed; 240/240 replayed exactly. Simulation only.</a:t>
            </a:r>
          </a:p>
          <a:p>
            <a:pPr>
              <a:spcAft>
                <a:spcPts val="900"/>
              </a:spcAft>
            </a:pPr>
            <a:r>
              <a:rPr sz="1300" b="0">
                <a:solidFill>
                  <a:srgbClr val="E8ECF1"/>
                </a:solidFill>
                <a:latin typeface="Calibri"/>
              </a:rPr>
              <a:t>Caveats we state first: where both finish, +17.5 percent [+1.4, +33.6] - below 20 percent on speed alone. Open floor: capped +33.7 percent [+4.5, +62.8], 40/40 vs 15/40, but SWARMOS is slower when both finish. History: the earlier avg_completion_s result (-19.3 percent, NOT MET) is superseded.</a:t>
            </a:r>
          </a:p>
        </p:txBody>
      </p:sp>
      <p:sp>
        <p:nvSpPr>
          <p:cNvPr id="9" name="Rounded Rectangle 8"/>
          <p:cNvSpPr/>
          <p:nvPr/>
        </p:nvSpPr>
        <p:spPr>
          <a:xfrm>
            <a:off x="502920" y="6172200"/>
            <a:ext cx="11155680" cy="566928"/>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C2: docs/C2_V3_PRODUCT_RESULT.md, reports/c2v3/. C1 history: docs/SUCCESS_CRITERIA_VERIFICATION.md, reports/criteria_after_envelope_fix.log.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How C1 was actually won</a:t>
            </a:r>
          </a:p>
          <a:p>
            <a:pPr>
              <a:spcAft>
                <a:spcPts val="400"/>
              </a:spcAft>
            </a:pPr>
            <a:r>
              <a:rPr sz="1300" b="0">
                <a:solidFill>
                  <a:srgbClr val="93A1B2"/>
                </a:solidFill>
                <a:latin typeface="Calibri"/>
              </a:rPr>
              <a:t>A safety argument only ever checked on short runs is not a safety argument</a:t>
            </a:r>
          </a:p>
        </p:txBody>
      </p:sp>
      <p:graphicFrame>
        <p:nvGraphicFramePr>
          <p:cNvPr id="4" name="Table 3"/>
          <p:cNvGraphicFramePr>
            <a:graphicFrameLocks noGrp="1"/>
          </p:cNvGraphicFramePr>
          <p:nvPr/>
        </p:nvGraphicFramePr>
        <p:xfrm>
          <a:off x="502920" y="1371600"/>
          <a:ext cx="11155677" cy="877824"/>
        </p:xfrm>
        <a:graphic>
          <a:graphicData uri="http://schemas.openxmlformats.org/drawingml/2006/table">
            <a:tbl>
              <a:tblPr firstRow="1" bandRow="1">
                <a:tableStyleId>{5C22544A-7EE6-4342-B048-85BDC9FD1C3A}</a:tableStyleId>
              </a:tblPr>
              <a:tblGrid>
                <a:gridCol w="457199"/>
                <a:gridCol w="2103119"/>
                <a:gridCol w="5029200"/>
                <a:gridCol w="3566159"/>
              </a:tblGrid>
              <a:tr h="292608">
                <a:tc>
                  <a:txBody>
                    <a:bodyPr/>
                    <a:lstStyle/>
                    <a:p/>
                  </a:txBody>
                  <a:tcPr>
                    <a:solidFill>
                      <a:srgbClr val="1B212A"/>
                    </a:solidFill>
                  </a:tcPr>
                </a:tc>
                <a:tc>
                  <a:txBody>
                    <a:bodyPr/>
                    <a:lstStyle/>
                    <a:p>
                      <a:r>
                        <a:rPr sz="1100" b="1">
                          <a:solidFill>
                            <a:srgbClr val="3B9EFF"/>
                          </a:solidFill>
                        </a:rPr>
                        <a:t>Defect</a:t>
                      </a:r>
                    </a:p>
                  </a:txBody>
                  <a:tcPr>
                    <a:solidFill>
                      <a:srgbClr val="1B212A"/>
                    </a:solidFill>
                  </a:tcPr>
                </a:tc>
                <a:tc>
                  <a:txBody>
                    <a:bodyPr/>
                    <a:lstStyle/>
                    <a:p>
                      <a:r>
                        <a:rPr sz="1100" b="1">
                          <a:solidFill>
                            <a:srgbClr val="3B9EFF"/>
                          </a:solidFill>
                        </a:rPr>
                        <a:t>What it was</a:t>
                      </a:r>
                    </a:p>
                  </a:txBody>
                  <a:tcPr>
                    <a:solidFill>
                      <a:srgbClr val="1B212A"/>
                    </a:solidFill>
                  </a:tcPr>
                </a:tc>
                <a:tc>
                  <a:txBody>
                    <a:bodyPr/>
                    <a:lstStyle/>
                    <a:p>
                      <a:r>
                        <a:rPr sz="1100" b="1">
                          <a:solidFill>
                            <a:srgbClr val="3B9EFF"/>
                          </a:solidFill>
                        </a:rPr>
                        <a:t>Fix and effect</a:t>
                      </a:r>
                    </a:p>
                  </a:txBody>
                  <a:tcPr>
                    <a:solidFill>
                      <a:srgbClr val="1B212A"/>
                    </a:solidFill>
                  </a:tcPr>
                </a:tc>
              </a:tr>
              <a:tr h="292608">
                <a:tc>
                  <a:txBody>
                    <a:bodyPr/>
                    <a:lstStyle/>
                    <a:p>
                      <a:r>
                        <a:rPr sz="1100">
                          <a:solidFill>
                            <a:srgbClr val="E8ECF1"/>
                          </a:solidFill>
                        </a:rPr>
                        <a:t>1</a:t>
                      </a:r>
                    </a:p>
                  </a:txBody>
                  <a:tcPr>
                    <a:solidFill>
                      <a:srgbClr val="12161C"/>
                    </a:solidFill>
                  </a:tcPr>
                </a:tc>
                <a:tc>
                  <a:txBody>
                    <a:bodyPr/>
                    <a:lstStyle/>
                    <a:p>
                      <a:r>
                        <a:rPr sz="1100">
                          <a:solidFill>
                            <a:srgbClr val="E8ECF1"/>
                          </a:solidFill>
                        </a:rPr>
                        <a:t>Free waypoint snap</a:t>
                      </a:r>
                    </a:p>
                  </a:txBody>
                  <a:tcPr>
                    <a:solidFill>
                      <a:srgbClr val="12161C"/>
                    </a:solidFill>
                  </a:tcPr>
                </a:tc>
                <a:tc>
                  <a:txBody>
                    <a:bodyPr/>
                    <a:lstStyle/>
                    <a:p>
                      <a:r>
                        <a:rPr sz="1100">
                          <a:solidFill>
                            <a:srgbClr val="E8ECF1"/>
                          </a:solidFill>
                        </a:rPr>
                        <a:t>SimRobot.step snapped onto a waypoint within 0.08 m charging neither moved nor budget - free travel every tick. A step cleared with 0.0039 m of margin reached 0.6962 m against a 0.75 m floor.</a:t>
                      </a:r>
                    </a:p>
                  </a:txBody>
                  <a:tcPr>
                    <a:solidFill>
                      <a:srgbClr val="12161C"/>
                    </a:solidFill>
                  </a:tcPr>
                </a:tc>
                <a:tc>
                  <a:txBody>
                    <a:bodyPr/>
                    <a:lstStyle/>
                    <a:p>
                      <a:r>
                        <a:rPr sz="1100">
                          <a:solidFill>
                            <a:srgbClr val="E8ECF1"/>
                          </a:solidFill>
                        </a:rPr>
                        <a:t>Snap only when the budget affords it, and charge it. 7 -&gt; 1.</a:t>
                      </a:r>
                    </a:p>
                  </a:txBody>
                  <a:tcPr>
                    <a:solidFill>
                      <a:srgbClr val="12161C"/>
                    </a:solidFill>
                  </a:tcPr>
                </a:tc>
              </a:tr>
              <a:tr h="292608">
                <a:tc>
                  <a:txBody>
                    <a:bodyPr/>
                    <a:lstStyle/>
                    <a:p>
                      <a:r>
                        <a:rPr sz="1100">
                          <a:solidFill>
                            <a:srgbClr val="E8ECF1"/>
                          </a:solidFill>
                        </a:rPr>
                        <a:t>2</a:t>
                      </a:r>
                    </a:p>
                  </a:txBody>
                  <a:tcPr>
                    <a:solidFill>
                      <a:srgbClr val="1B212A"/>
                    </a:solidFill>
                  </a:tcPr>
                </a:tc>
                <a:tc>
                  <a:txBody>
                    <a:bodyPr/>
                    <a:lstStyle/>
                    <a:p>
                      <a:r>
                        <a:rPr sz="1100">
                          <a:solidFill>
                            <a:srgbClr val="E8ECF1"/>
                          </a:solidFill>
                        </a:rPr>
                        <a:t>Truncated step envelope</a:t>
                      </a:r>
                    </a:p>
                  </a:txBody>
                  <a:tcPr>
                    <a:solidFill>
                      <a:srgbClr val="1B212A"/>
                    </a:solidFill>
                  </a:tcPr>
                </a:tc>
                <a:tc>
                  <a:txBody>
                    <a:bodyPr/>
                    <a:lstStyle/>
                    <a:p>
                      <a:r>
                        <a:rPr sz="1100">
                          <a:solidFill>
                            <a:srgbClr val="E8ECF1"/>
                          </a:solidFill>
                        </a:rPr>
                        <a:t>The monitor bounded its own step with project_step on the published intent, which stops at the end of a short path. A 0.0440 m projection made every swept gap read as the standing-still gap, so full speed was granted; the engine moved 0.0540 m into a stationary peer.</a:t>
                      </a:r>
                    </a:p>
                  </a:txBody>
                  <a:tcPr>
                    <a:solidFill>
                      <a:srgbClr val="1B212A"/>
                    </a:solidFill>
                  </a:tcPr>
                </a:tc>
                <a:tc>
                  <a:txBody>
                    <a:bodyPr/>
                    <a:lstStyle/>
                    <a:p>
                      <a:r>
                        <a:rPr sz="1100">
                          <a:solidFill>
                            <a:srgbClr val="E8ECF1"/>
                          </a:solidFill>
                        </a:rPr>
                        <a:t>Keep the direction, extend the distance to MAX_STEP_M. 1 -&gt; 0.</a:t>
                      </a:r>
                    </a:p>
                  </a:txBody>
                  <a:tcPr>
                    <a:solidFill>
                      <a:srgbClr val="1B212A"/>
                    </a:solidFill>
                  </a:tcPr>
                </a:tc>
              </a:tr>
            </a:tbl>
          </a:graphicData>
        </a:graphic>
      </p:graphicFrame>
      <p:sp>
        <p:nvSpPr>
          <p:cNvPr id="5" name="TextBox 4"/>
          <p:cNvSpPr txBox="1"/>
          <p:nvPr/>
        </p:nvSpPr>
        <p:spPr>
          <a:xfrm>
            <a:off x="502920" y="4572000"/>
            <a:ext cx="11155680" cy="5120640"/>
          </a:xfrm>
          <a:prstGeom prst="rect">
            <a:avLst/>
          </a:prstGeom>
          <a:noFill/>
        </p:spPr>
        <p:txBody>
          <a:bodyPr wrap="square">
            <a:spAutoFit/>
          </a:bodyPr>
          <a:lstStyle/>
          <a:p>
            <a:pPr>
              <a:spcAft>
                <a:spcPts val="900"/>
              </a:spcAft>
            </a:pPr>
            <a:r>
              <a:rPr sz="1300" b="0">
                <a:solidFill>
                  <a:srgbClr val="E8ECF1"/>
                </a:solidFill>
                <a:latin typeface="Calibri"/>
              </a:rPr>
              <a:t>Both broke one invariant: granting speed_scale f must move a robot at most f * MAX_STEP_M. Once that is false no margin means anything - the arbiter is clearing a segment the engine does not respect.</a:t>
            </a:r>
          </a:p>
          <a:p>
            <a:pPr>
              <a:spcAft>
                <a:spcPts val="900"/>
              </a:spcAft>
            </a:pPr>
            <a:r>
              <a:rPr sz="1300" b="0">
                <a:solidFill>
                  <a:srgbClr val="E8ECF1"/>
                </a:solidFill>
                <a:latin typeface="Calibri"/>
              </a:rPr>
              <a:t>Defect 2 produced zero step-authority breaches, so the test that catches defect 1 was blind to it. Four tests now pin both, all four failing on the pre-fix code. Suite total: 575 passing.</a:t>
            </a:r>
          </a:p>
        </p:txBody>
      </p:sp>
      <p:sp>
        <p:nvSpPr>
          <p:cNvPr id="6" name="Rounded Rectangle 5"/>
          <p:cNvSpPr/>
          <p:nvPr/>
        </p:nvSpPr>
        <p:spPr>
          <a:xfrm>
            <a:off x="502920" y="6035040"/>
            <a:ext cx="11155680" cy="566928"/>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We report this rather than quietly fixing it: the shape of the failure is the transferable lesson, and a judge who ran the demo past 180 seconds would have found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Verification evidence</a:t>
            </a:r>
          </a:p>
          <a:p>
            <a:pPr>
              <a:spcAft>
                <a:spcPts val="400"/>
              </a:spcAft>
            </a:pPr>
            <a:r>
              <a:rPr sz="1300" b="0">
                <a:solidFill>
                  <a:srgbClr val="93A1B2"/>
                </a:solidFill>
                <a:latin typeface="Calibri"/>
              </a:rPr>
              <a:t>What we can show on demand, in under a minute each</a:t>
            </a:r>
          </a:p>
        </p:txBody>
      </p:sp>
      <p:graphicFrame>
        <p:nvGraphicFramePr>
          <p:cNvPr id="4" name="Table 3"/>
          <p:cNvGraphicFramePr>
            <a:graphicFrameLocks noGrp="1"/>
          </p:cNvGraphicFramePr>
          <p:nvPr/>
        </p:nvGraphicFramePr>
        <p:xfrm>
          <a:off x="502920" y="1371600"/>
          <a:ext cx="11155680" cy="2048256"/>
        </p:xfrm>
        <a:graphic>
          <a:graphicData uri="http://schemas.openxmlformats.org/drawingml/2006/table">
            <a:tbl>
              <a:tblPr firstRow="1" bandRow="1">
                <a:tableStyleId>{5C22544A-7EE6-4342-B048-85BDC9FD1C3A}</a:tableStyleId>
              </a:tblPr>
              <a:tblGrid>
                <a:gridCol w="3108960"/>
                <a:gridCol w="3291840"/>
                <a:gridCol w="4754880"/>
              </a:tblGrid>
              <a:tr h="292608">
                <a:tc>
                  <a:txBody>
                    <a:bodyPr/>
                    <a:lstStyle/>
                    <a:p>
                      <a:r>
                        <a:rPr sz="1200" b="1">
                          <a:solidFill>
                            <a:srgbClr val="3B9EFF"/>
                          </a:solidFill>
                        </a:rPr>
                        <a:t>Evidence</a:t>
                      </a:r>
                    </a:p>
                  </a:txBody>
                  <a:tcPr>
                    <a:solidFill>
                      <a:srgbClr val="1B212A"/>
                    </a:solidFill>
                  </a:tcPr>
                </a:tc>
                <a:tc>
                  <a:txBody>
                    <a:bodyPr/>
                    <a:lstStyle/>
                    <a:p>
                      <a:r>
                        <a:rPr sz="1200" b="1">
                          <a:solidFill>
                            <a:srgbClr val="3B9EFF"/>
                          </a:solidFill>
                        </a:rPr>
                        <a:t>Where</a:t>
                      </a:r>
                    </a:p>
                  </a:txBody>
                  <a:tcPr>
                    <a:solidFill>
                      <a:srgbClr val="1B212A"/>
                    </a:solidFill>
                  </a:tcPr>
                </a:tc>
                <a:tc>
                  <a:txBody>
                    <a:bodyPr/>
                    <a:lstStyle/>
                    <a:p>
                      <a:r>
                        <a:rPr sz="1200" b="1">
                          <a:solidFill>
                            <a:srgbClr val="3B9EFF"/>
                          </a:solidFill>
                        </a:rPr>
                        <a:t>What it establishes</a:t>
                      </a:r>
                    </a:p>
                  </a:txBody>
                  <a:tcPr>
                    <a:solidFill>
                      <a:srgbClr val="1B212A"/>
                    </a:solidFill>
                  </a:tcPr>
                </a:tc>
              </a:tr>
              <a:tr h="292608">
                <a:tc>
                  <a:txBody>
                    <a:bodyPr/>
                    <a:lstStyle/>
                    <a:p>
                      <a:r>
                        <a:rPr sz="1200">
                          <a:solidFill>
                            <a:srgbClr val="E8ECF1"/>
                          </a:solidFill>
                        </a:rPr>
                        <a:t>570 tests, all green</a:t>
                      </a:r>
                    </a:p>
                  </a:txBody>
                  <a:tcPr>
                    <a:solidFill>
                      <a:srgbClr val="12161C"/>
                    </a:solidFill>
                  </a:tcPr>
                </a:tc>
                <a:tc>
                  <a:txBody>
                    <a:bodyPr/>
                    <a:lstStyle/>
                    <a:p>
                      <a:r>
                        <a:rPr sz="1200">
                          <a:solidFill>
                            <a:srgbClr val="E8ECF1"/>
                          </a:solidFill>
                        </a:rPr>
                        <a:t>20 files, 70 s wall clock</a:t>
                      </a:r>
                    </a:p>
                  </a:txBody>
                  <a:tcPr>
                    <a:solidFill>
                      <a:srgbClr val="12161C"/>
                    </a:solidFill>
                  </a:tcPr>
                </a:tc>
                <a:tc>
                  <a:txBody>
                    <a:bodyPr/>
                    <a:lstStyle/>
                    <a:p>
                      <a:r>
                        <a:rPr sz="1200">
                          <a:solidFill>
                            <a:srgbClr val="E8ECF1"/>
                          </a:solidFill>
                        </a:rPr>
                        <a:t>The gate. No skips, no xfail hiding a broken contract.</a:t>
                      </a:r>
                    </a:p>
                  </a:txBody>
                  <a:tcPr>
                    <a:solidFill>
                      <a:srgbClr val="12161C"/>
                    </a:solidFill>
                  </a:tcPr>
                </a:tc>
              </a:tr>
              <a:tr h="292608">
                <a:tc>
                  <a:txBody>
                    <a:bodyPr/>
                    <a:lstStyle/>
                    <a:p>
                      <a:r>
                        <a:rPr sz="1200">
                          <a:solidFill>
                            <a:srgbClr val="E8ECF1"/>
                          </a:solidFill>
                        </a:rPr>
                        <a:t>Structural ML fence</a:t>
                      </a:r>
                    </a:p>
                  </a:txBody>
                  <a:tcPr>
                    <a:solidFill>
                      <a:srgbClr val="1B212A"/>
                    </a:solidFill>
                  </a:tcPr>
                </a:tc>
                <a:tc>
                  <a:txBody>
                    <a:bodyPr/>
                    <a:lstStyle/>
                    <a:p>
                      <a:r>
                        <a:rPr sz="1200">
                          <a:solidFill>
                            <a:srgbClr val="E8ECF1"/>
                          </a:solidFill>
                        </a:rPr>
                        <a:t>tests/test_ml_fence.py</a:t>
                      </a:r>
                    </a:p>
                  </a:txBody>
                  <a:tcPr>
                    <a:solidFill>
                      <a:srgbClr val="1B212A"/>
                    </a:solidFill>
                  </a:tcPr>
                </a:tc>
                <a:tc>
                  <a:txBody>
                    <a:bodyPr/>
                    <a:lstStyle/>
                    <a:p>
                      <a:r>
                        <a:rPr sz="1200">
                          <a:solidFill>
                            <a:srgbClr val="E8ECF1"/>
                          </a:solidFill>
                        </a:rPr>
                        <a:t>AST-walks the coordination package and fails if app.ml is imported.</a:t>
                      </a:r>
                    </a:p>
                  </a:txBody>
                  <a:tcPr>
                    <a:solidFill>
                      <a:srgbClr val="1B212A"/>
                    </a:solidFill>
                  </a:tcPr>
                </a:tc>
              </a:tr>
              <a:tr h="292608">
                <a:tc>
                  <a:txBody>
                    <a:bodyPr/>
                    <a:lstStyle/>
                    <a:p>
                      <a:r>
                        <a:rPr sz="1200">
                          <a:solidFill>
                            <a:srgbClr val="E8ECF1"/>
                          </a:solidFill>
                        </a:rPr>
                        <a:t>Deterministic replay</a:t>
                      </a:r>
                    </a:p>
                  </a:txBody>
                  <a:tcPr>
                    <a:solidFill>
                      <a:srgbClr val="12161C"/>
                    </a:solidFill>
                  </a:tcPr>
                </a:tc>
                <a:tc>
                  <a:txBody>
                    <a:bodyPr/>
                    <a:lstStyle/>
                    <a:p>
                      <a:r>
                        <a:rPr sz="1200">
                          <a:solidFill>
                            <a:srgbClr val="E8ECF1"/>
                          </a:solidFill>
                        </a:rPr>
                        <a:t>trace_hash</a:t>
                      </a:r>
                    </a:p>
                  </a:txBody>
                  <a:tcPr>
                    <a:solidFill>
                      <a:srgbClr val="12161C"/>
                    </a:solidFill>
                  </a:tcPr>
                </a:tc>
                <a:tc>
                  <a:txBody>
                    <a:bodyPr/>
                    <a:lstStyle/>
                    <a:p>
                      <a:r>
                        <a:rPr sz="1200">
                          <a:solidFill>
                            <a:srgbClr val="E8ECF1"/>
                          </a:solidFill>
                        </a:rPr>
                        <a:t>Same seed, same run, bit for bit - including under an impaired radio.</a:t>
                      </a:r>
                    </a:p>
                  </a:txBody>
                  <a:tcPr>
                    <a:solidFill>
                      <a:srgbClr val="12161C"/>
                    </a:solidFill>
                  </a:tcPr>
                </a:tc>
              </a:tr>
              <a:tr h="292608">
                <a:tc>
                  <a:txBody>
                    <a:bodyPr/>
                    <a:lstStyle/>
                    <a:p>
                      <a:r>
                        <a:rPr sz="1200">
                          <a:solidFill>
                            <a:srgbClr val="E8ECF1"/>
                          </a:solidFill>
                        </a:rPr>
                        <a:t>Compute headroom</a:t>
                      </a:r>
                    </a:p>
                  </a:txBody>
                  <a:tcPr>
                    <a:solidFill>
                      <a:srgbClr val="1B212A"/>
                    </a:solidFill>
                  </a:tcPr>
                </a:tc>
                <a:tc>
                  <a:txBody>
                    <a:bodyPr/>
                    <a:lstStyle/>
                    <a:p>
                      <a:r>
                        <a:rPr sz="1200">
                          <a:solidFill>
                            <a:srgbClr val="E8ECF1"/>
                          </a:solidFill>
                        </a:rPr>
                        <a:t>p95 10.14 ms / 100 ms</a:t>
                      </a:r>
                    </a:p>
                  </a:txBody>
                  <a:tcPr>
                    <a:solidFill>
                      <a:srgbClr val="1B212A"/>
                    </a:solidFill>
                  </a:tcPr>
                </a:tc>
                <a:tc>
                  <a:txBody>
                    <a:bodyPr/>
                    <a:lstStyle/>
                    <a:p>
                      <a:r>
                        <a:rPr sz="1200">
                          <a:solidFill>
                            <a:srgbClr val="E8ECF1"/>
                          </a:solidFill>
                        </a:rPr>
                        <a:t>Measured in-engine at fleet 50, not asserted.</a:t>
                      </a:r>
                    </a:p>
                  </a:txBody>
                  <a:tcPr>
                    <a:solidFill>
                      <a:srgbClr val="1B212A"/>
                    </a:solidFill>
                  </a:tcPr>
                </a:tc>
              </a:tr>
              <a:tr h="292608">
                <a:tc>
                  <a:txBody>
                    <a:bodyPr/>
                    <a:lstStyle/>
                    <a:p>
                      <a:r>
                        <a:rPr sz="1200">
                          <a:solidFill>
                            <a:srgbClr val="E8ECF1"/>
                          </a:solidFill>
                        </a:rPr>
                        <a:t>Forecaster decision</a:t>
                      </a:r>
                    </a:p>
                  </a:txBody>
                  <a:tcPr>
                    <a:solidFill>
                      <a:srgbClr val="12161C"/>
                    </a:solidFill>
                  </a:tcPr>
                </a:tc>
                <a:tc>
                  <a:txBody>
                    <a:bodyPr/>
                    <a:lstStyle/>
                    <a:p>
                      <a:r>
                        <a:rPr sz="1200">
                          <a:solidFill>
                            <a:srgbClr val="E8ECF1"/>
                          </a:solidFill>
                        </a:rPr>
                        <a:t>docs/X05_FORECASTER_DECISION.md</a:t>
                      </a:r>
                    </a:p>
                  </a:txBody>
                  <a:tcPr>
                    <a:solidFill>
                      <a:srgbClr val="12161C"/>
                    </a:solidFill>
                  </a:tcPr>
                </a:tc>
                <a:tc>
                  <a:txBody>
                    <a:bodyPr/>
                    <a:lstStyle/>
                    <a:p>
                      <a:r>
                        <a:rPr sz="1200">
                          <a:solidFill>
                            <a:srgbClr val="E8ECF1"/>
                          </a:solidFill>
                        </a:rPr>
                        <a:t>A measured negative result, written down.</a:t>
                      </a:r>
                    </a:p>
                  </a:txBody>
                  <a:tcPr>
                    <a:solidFill>
                      <a:srgbClr val="12161C"/>
                    </a:solidFill>
                  </a:tcPr>
                </a:tc>
              </a:tr>
              <a:tr h="292608">
                <a:tc>
                  <a:txBody>
                    <a:bodyPr/>
                    <a:lstStyle/>
                    <a:p>
                      <a:r>
                        <a:rPr sz="1200">
                          <a:solidFill>
                            <a:srgbClr val="E8ECF1"/>
                          </a:solidFill>
                        </a:rPr>
                        <a:t>Criteria record</a:t>
                      </a:r>
                    </a:p>
                  </a:txBody>
                  <a:tcPr>
                    <a:solidFill>
                      <a:srgbClr val="1B212A"/>
                    </a:solidFill>
                  </a:tcPr>
                </a:tc>
                <a:tc>
                  <a:txBody>
                    <a:bodyPr/>
                    <a:lstStyle/>
                    <a:p>
                      <a:r>
                        <a:rPr sz="1200">
                          <a:solidFill>
                            <a:srgbClr val="E8ECF1"/>
                          </a:solidFill>
                        </a:rPr>
                        <a:t>docs/SUCCESS_CRITERIA_VERIFICATION.md</a:t>
                      </a:r>
                    </a:p>
                  </a:txBody>
                  <a:tcPr>
                    <a:solidFill>
                      <a:srgbClr val="1B212A"/>
                    </a:solidFill>
                  </a:tcPr>
                </a:tc>
                <a:tc>
                  <a:txBody>
                    <a:bodyPr/>
                    <a:lstStyle/>
                    <a:p>
                      <a:r>
                        <a:rPr sz="1200">
                          <a:solidFill>
                            <a:srgbClr val="E8ECF1"/>
                          </a:solidFill>
                        </a:rPr>
                        <a:t>Includes the criterion we did not meet.</a:t>
                      </a:r>
                    </a:p>
                  </a:txBody>
                  <a:tcPr>
                    <a:solidFill>
                      <a:srgbClr val="1B212A"/>
                    </a:solidFill>
                  </a:tcPr>
                </a:tc>
              </a:tr>
            </a:tbl>
          </a:graphicData>
        </a:graphic>
      </p:graphicFrame>
      <p:sp>
        <p:nvSpPr>
          <p:cNvPr id="5" name="Rounded Rectangle 4"/>
          <p:cNvSpPr/>
          <p:nvPr/>
        </p:nvSpPr>
        <p:spPr>
          <a:xfrm>
            <a:off x="502920" y="5440680"/>
            <a:ext cx="11155680" cy="566928"/>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Reproduce the gate: PYTEST_DISABLE_PLUGIN_AUTOLOAD=1 PYTHONPATH=. python3 -m pytest tests/ -q</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The demo, in six minutes</a:t>
            </a:r>
          </a:p>
          <a:p>
            <a:pPr>
              <a:spcAft>
                <a:spcPts val="400"/>
              </a:spcAft>
            </a:pPr>
            <a:r>
              <a:rPr sz="1300" b="0">
                <a:solidFill>
                  <a:srgbClr val="93A1B2"/>
                </a:solidFill>
                <a:latin typeface="Calibri"/>
              </a:rPr>
              <a:t>Rehearsed, keyboard-driven, and every beat backed by a mechanism on the earlier slides</a:t>
            </a:r>
          </a:p>
        </p:txBody>
      </p:sp>
      <p:graphicFrame>
        <p:nvGraphicFramePr>
          <p:cNvPr id="4" name="Table 3"/>
          <p:cNvGraphicFramePr>
            <a:graphicFrameLocks noGrp="1"/>
          </p:cNvGraphicFramePr>
          <p:nvPr/>
        </p:nvGraphicFramePr>
        <p:xfrm>
          <a:off x="502920" y="1371600"/>
          <a:ext cx="11155680" cy="2048256"/>
        </p:xfrm>
        <a:graphic>
          <a:graphicData uri="http://schemas.openxmlformats.org/drawingml/2006/table">
            <a:tbl>
              <a:tblPr firstRow="1" bandRow="1">
                <a:tableStyleId>{5C22544A-7EE6-4342-B048-85BDC9FD1C3A}</a:tableStyleId>
              </a:tblPr>
              <a:tblGrid>
                <a:gridCol w="914400"/>
                <a:gridCol w="3291840"/>
                <a:gridCol w="6949440"/>
              </a:tblGrid>
              <a:tr h="292608">
                <a:tc>
                  <a:txBody>
                    <a:bodyPr/>
                    <a:lstStyle/>
                    <a:p>
                      <a:r>
                        <a:rPr sz="1200" b="1">
                          <a:solidFill>
                            <a:srgbClr val="3B9EFF"/>
                          </a:solidFill>
                        </a:rPr>
                        <a:t>T+</a:t>
                      </a:r>
                    </a:p>
                  </a:txBody>
                  <a:tcPr>
                    <a:solidFill>
                      <a:srgbClr val="1B212A"/>
                    </a:solidFill>
                  </a:tcPr>
                </a:tc>
                <a:tc>
                  <a:txBody>
                    <a:bodyPr/>
                    <a:lstStyle/>
                    <a:p>
                      <a:r>
                        <a:rPr sz="1200" b="1">
                          <a:solidFill>
                            <a:srgbClr val="3B9EFF"/>
                          </a:solidFill>
                        </a:rPr>
                        <a:t>Beat</a:t>
                      </a:r>
                    </a:p>
                  </a:txBody>
                  <a:tcPr>
                    <a:solidFill>
                      <a:srgbClr val="1B212A"/>
                    </a:solidFill>
                  </a:tcPr>
                </a:tc>
                <a:tc>
                  <a:txBody>
                    <a:bodyPr/>
                    <a:lstStyle/>
                    <a:p>
                      <a:r>
                        <a:rPr sz="1200" b="1">
                          <a:solidFill>
                            <a:srgbClr val="3B9EFF"/>
                          </a:solidFill>
                        </a:rPr>
                        <a:t>What the judge sees</a:t>
                      </a:r>
                    </a:p>
                  </a:txBody>
                  <a:tcPr>
                    <a:solidFill>
                      <a:srgbClr val="1B212A"/>
                    </a:solidFill>
                  </a:tcPr>
                </a:tc>
              </a:tr>
              <a:tr h="292608">
                <a:tc>
                  <a:txBody>
                    <a:bodyPr/>
                    <a:lstStyle/>
                    <a:p>
                      <a:r>
                        <a:rPr sz="1200">
                          <a:solidFill>
                            <a:srgbClr val="E8ECF1"/>
                          </a:solidFill>
                        </a:rPr>
                        <a:t>0:00</a:t>
                      </a:r>
                    </a:p>
                  </a:txBody>
                  <a:tcPr>
                    <a:solidFill>
                      <a:srgbClr val="12161C"/>
                    </a:solidFill>
                  </a:tcPr>
                </a:tc>
                <a:tc>
                  <a:txBody>
                    <a:bodyPr/>
                    <a:lstStyle/>
                    <a:p>
                      <a:r>
                        <a:rPr sz="1200">
                          <a:solidFill>
                            <a:srgbClr val="E8ECF1"/>
                          </a:solidFill>
                        </a:rPr>
                        <a:t>Fleet running, 50 robots</a:t>
                      </a:r>
                    </a:p>
                  </a:txBody>
                  <a:tcPr>
                    <a:solidFill>
                      <a:srgbClr val="12161C"/>
                    </a:solidFill>
                  </a:tcPr>
                </a:tc>
                <a:tc>
                  <a:txBody>
                    <a:bodyPr/>
                    <a:lstStyle/>
                    <a:p>
                      <a:r>
                        <a:rPr sz="1200">
                          <a:solidFill>
                            <a:srgbClr val="E8ECF1"/>
                          </a:solidFill>
                        </a:rPr>
                        <a:t>Establish that it is real: live tick, live KPIs, one hero metric.</a:t>
                      </a:r>
                    </a:p>
                  </a:txBody>
                  <a:tcPr>
                    <a:solidFill>
                      <a:srgbClr val="12161C"/>
                    </a:solidFill>
                  </a:tcPr>
                </a:tc>
              </a:tr>
              <a:tr h="292608">
                <a:tc>
                  <a:txBody>
                    <a:bodyPr/>
                    <a:lstStyle/>
                    <a:p>
                      <a:r>
                        <a:rPr sz="1200">
                          <a:solidFill>
                            <a:srgbClr val="E8ECF1"/>
                          </a:solidFill>
                        </a:rPr>
                        <a:t>1:00</a:t>
                      </a:r>
                    </a:p>
                  </a:txBody>
                  <a:tcPr>
                    <a:solidFill>
                      <a:srgbClr val="1B212A"/>
                    </a:solidFill>
                  </a:tcPr>
                </a:tc>
                <a:tc>
                  <a:txBody>
                    <a:bodyPr/>
                    <a:lstStyle/>
                    <a:p>
                      <a:r>
                        <a:rPr sz="1200">
                          <a:solidFill>
                            <a:srgbClr val="E8ECF1"/>
                          </a:solidFill>
                        </a:rPr>
                        <a:t>Select one robot</a:t>
                      </a:r>
                    </a:p>
                  </a:txBody>
                  <a:tcPr>
                    <a:solidFill>
                      <a:srgbClr val="1B212A"/>
                    </a:solidFill>
                  </a:tcPr>
                </a:tc>
                <a:tc>
                  <a:txBody>
                    <a:bodyPr/>
                    <a:lstStyle/>
                    <a:p>
                      <a:r>
                        <a:rPr sz="1200">
                          <a:solidFill>
                            <a:srgbClr val="E8ECF1"/>
                          </a:solidFill>
                        </a:rPr>
                        <a:t>Its path, its peers, and the one-sentence reason for its current verdict.</a:t>
                      </a:r>
                    </a:p>
                  </a:txBody>
                  <a:tcPr>
                    <a:solidFill>
                      <a:srgbClr val="1B212A"/>
                    </a:solidFill>
                  </a:tcPr>
                </a:tc>
              </a:tr>
              <a:tr h="292608">
                <a:tc>
                  <a:txBody>
                    <a:bodyPr/>
                    <a:lstStyle/>
                    <a:p>
                      <a:r>
                        <a:rPr sz="1200">
                          <a:solidFill>
                            <a:srgbClr val="E8ECF1"/>
                          </a:solidFill>
                        </a:rPr>
                        <a:t>2:00</a:t>
                      </a:r>
                    </a:p>
                  </a:txBody>
                  <a:tcPr>
                    <a:solidFill>
                      <a:srgbClr val="12161C"/>
                    </a:solidFill>
                  </a:tcPr>
                </a:tc>
                <a:tc>
                  <a:txBody>
                    <a:bodyPr/>
                    <a:lstStyle/>
                    <a:p>
                      <a:r>
                        <a:rPr sz="1200">
                          <a:solidFill>
                            <a:srgbClr val="E8ECF1"/>
                          </a:solidFill>
                        </a:rPr>
                        <a:t>Force a corridor conflict</a:t>
                      </a:r>
                    </a:p>
                  </a:txBody>
                  <a:tcPr>
                    <a:solidFill>
                      <a:srgbClr val="12161C"/>
                    </a:solidFill>
                  </a:tcPr>
                </a:tc>
                <a:tc>
                  <a:txBody>
                    <a:bodyPr/>
                    <a:lstStyle/>
                    <a:p>
                      <a:r>
                        <a:rPr sz="1200">
                          <a:solidFill>
                            <a:srgbClr val="E8ECF1"/>
                          </a:solidFill>
                        </a:rPr>
                        <a:t>Two robots meet in a 1.0 m aisle. Show the contest, and who yielded and why.</a:t>
                      </a:r>
                    </a:p>
                  </a:txBody>
                  <a:tcPr>
                    <a:solidFill>
                      <a:srgbClr val="12161C"/>
                    </a:solidFill>
                  </a:tcPr>
                </a:tc>
              </a:tr>
              <a:tr h="292608">
                <a:tc>
                  <a:txBody>
                    <a:bodyPr/>
                    <a:lstStyle/>
                    <a:p>
                      <a:r>
                        <a:rPr sz="1200">
                          <a:solidFill>
                            <a:srgbClr val="E8ECF1"/>
                          </a:solidFill>
                        </a:rPr>
                        <a:t>3:00</a:t>
                      </a:r>
                    </a:p>
                  </a:txBody>
                  <a:tcPr>
                    <a:solidFill>
                      <a:srgbClr val="1B212A"/>
                    </a:solidFill>
                  </a:tcPr>
                </a:tc>
                <a:tc>
                  <a:txBody>
                    <a:bodyPr/>
                    <a:lstStyle/>
                    <a:p>
                      <a:r>
                        <a:rPr sz="1200">
                          <a:solidFill>
                            <a:srgbClr val="E8ECF1"/>
                          </a:solidFill>
                        </a:rPr>
                        <a:t>Kill a robot's radio</a:t>
                      </a:r>
                    </a:p>
                  </a:txBody>
                  <a:tcPr>
                    <a:solidFill>
                      <a:srgbClr val="1B212A"/>
                    </a:solidFill>
                  </a:tcPr>
                </a:tc>
                <a:tc>
                  <a:txBody>
                    <a:bodyPr/>
                    <a:lstStyle/>
                    <a:p>
                      <a:r>
                        <a:rPr sz="1200">
                          <a:solidFill>
                            <a:srgbClr val="E8ECF1"/>
                          </a:solidFill>
                        </a:rPr>
                        <a:t>It enters sovereign mode: slower, wider margin, still working. Distinct colour.</a:t>
                      </a:r>
                    </a:p>
                  </a:txBody>
                  <a:tcPr>
                    <a:solidFill>
                      <a:srgbClr val="1B212A"/>
                    </a:solidFill>
                  </a:tcPr>
                </a:tc>
              </a:tr>
              <a:tr h="292608">
                <a:tc>
                  <a:txBody>
                    <a:bodyPr/>
                    <a:lstStyle/>
                    <a:p>
                      <a:r>
                        <a:rPr sz="1200">
                          <a:solidFill>
                            <a:srgbClr val="E8ECF1"/>
                          </a:solidFill>
                        </a:rPr>
                        <a:t>4:00</a:t>
                      </a:r>
                    </a:p>
                  </a:txBody>
                  <a:tcPr>
                    <a:solidFill>
                      <a:srgbClr val="12161C"/>
                    </a:solidFill>
                  </a:tcPr>
                </a:tc>
                <a:tc>
                  <a:txBody>
                    <a:bodyPr/>
                    <a:lstStyle/>
                    <a:p>
                      <a:r>
                        <a:rPr sz="1200">
                          <a:solidFill>
                            <a:srgbClr val="E8ECF1"/>
                          </a:solidFill>
                        </a:rPr>
                        <a:t>Turn one robot rogue</a:t>
                      </a:r>
                    </a:p>
                  </a:txBody>
                  <a:tcPr>
                    <a:solidFill>
                      <a:srgbClr val="12161C"/>
                    </a:solidFill>
                  </a:tcPr>
                </a:tc>
                <a:tc>
                  <a:txBody>
                    <a:bodyPr/>
                    <a:lstStyle/>
                    <a:p>
                      <a:r>
                        <a:rPr sz="1200">
                          <a:solidFill>
                            <a:srgbClr val="E8ECF1"/>
                          </a:solidFill>
                        </a:rPr>
                        <a:t>Detect, quarantine, route around. The fleet keeps running.</a:t>
                      </a:r>
                    </a:p>
                  </a:txBody>
                  <a:tcPr>
                    <a:solidFill>
                      <a:srgbClr val="12161C"/>
                    </a:solidFill>
                  </a:tcPr>
                </a:tc>
              </a:tr>
              <a:tr h="292608">
                <a:tc>
                  <a:txBody>
                    <a:bodyPr/>
                    <a:lstStyle/>
                    <a:p>
                      <a:r>
                        <a:rPr sz="1200">
                          <a:solidFill>
                            <a:srgbClr val="E8ECF1"/>
                          </a:solidFill>
                        </a:rPr>
                        <a:t>5:00</a:t>
                      </a:r>
                    </a:p>
                  </a:txBody>
                  <a:tcPr>
                    <a:solidFill>
                      <a:srgbClr val="1B212A"/>
                    </a:solidFill>
                  </a:tcPr>
                </a:tc>
                <a:tc>
                  <a:txBody>
                    <a:bodyPr/>
                    <a:lstStyle/>
                    <a:p>
                      <a:r>
                        <a:rPr sz="1200">
                          <a:solidFill>
                            <a:srgbClr val="E8ECF1"/>
                          </a:solidFill>
                        </a:rPr>
                        <a:t>Co-simulation split screen</a:t>
                      </a:r>
                    </a:p>
                  </a:txBody>
                  <a:tcPr>
                    <a:solidFill>
                      <a:srgbClr val="1B212A"/>
                    </a:solidFill>
                  </a:tcPr>
                </a:tc>
                <a:tc>
                  <a:txBody>
                    <a:bodyPr/>
                    <a:lstStyle/>
                    <a:p>
                      <a:r>
                        <a:rPr sz="1200">
                          <a:solidFill>
                            <a:srgbClr val="E8ECF1"/>
                          </a:solidFill>
                        </a:rPr>
                        <a:t>Same future, baseline arm beside ours. Then the replay: same seed, same run.</a:t>
                      </a:r>
                    </a:p>
                  </a:txBody>
                  <a:tcPr>
                    <a:solidFill>
                      <a:srgbClr val="1B212A"/>
                    </a:solidFill>
                  </a:tcPr>
                </a:tc>
              </a:tr>
            </a:tbl>
          </a:graphicData>
        </a:graphic>
      </p:graphicFrame>
      <p:sp>
        <p:nvSpPr>
          <p:cNvPr id="5" name="Rounded Rectangle 4"/>
          <p:cNvSpPr/>
          <p:nvPr/>
        </p:nvSpPr>
        <p:spPr>
          <a:xfrm>
            <a:off x="502920" y="5440680"/>
            <a:ext cx="11155680" cy="566928"/>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Every beat is triggered by a key binding. Nothing in the demo depends on clicking a moving target.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Questions we expect, and the honest answer</a:t>
            </a:r>
          </a:p>
          <a:p>
            <a:pPr>
              <a:spcAft>
                <a:spcPts val="400"/>
              </a:spcAft>
            </a:pPr>
            <a:r>
              <a:rPr sz="1300" b="0">
                <a:solidFill>
                  <a:srgbClr val="93A1B2"/>
                </a:solidFill>
                <a:latin typeface="Calibri"/>
              </a:rPr>
              <a:t>Prepared, not improvised</a:t>
            </a:r>
          </a:p>
        </p:txBody>
      </p:sp>
      <p:graphicFrame>
        <p:nvGraphicFramePr>
          <p:cNvPr id="4" name="Table 3"/>
          <p:cNvGraphicFramePr>
            <a:graphicFrameLocks noGrp="1"/>
          </p:cNvGraphicFramePr>
          <p:nvPr/>
        </p:nvGraphicFramePr>
        <p:xfrm>
          <a:off x="502920" y="1325880"/>
          <a:ext cx="11155680" cy="1755648"/>
        </p:xfrm>
        <a:graphic>
          <a:graphicData uri="http://schemas.openxmlformats.org/drawingml/2006/table">
            <a:tbl>
              <a:tblPr firstRow="1" bandRow="1">
                <a:tableStyleId>{5C22544A-7EE6-4342-B048-85BDC9FD1C3A}</a:tableStyleId>
              </a:tblPr>
              <a:tblGrid>
                <a:gridCol w="4023360"/>
                <a:gridCol w="7132320"/>
              </a:tblGrid>
              <a:tr h="292608">
                <a:tc>
                  <a:txBody>
                    <a:bodyPr/>
                    <a:lstStyle/>
                    <a:p>
                      <a:r>
                        <a:rPr sz="1100" b="1">
                          <a:solidFill>
                            <a:srgbClr val="3B9EFF"/>
                          </a:solidFill>
                        </a:rPr>
                        <a:t>Question</a:t>
                      </a:r>
                    </a:p>
                  </a:txBody>
                  <a:tcPr>
                    <a:solidFill>
                      <a:srgbClr val="1B212A"/>
                    </a:solidFill>
                  </a:tcPr>
                </a:tc>
                <a:tc>
                  <a:txBody>
                    <a:bodyPr/>
                    <a:lstStyle/>
                    <a:p>
                      <a:r>
                        <a:rPr sz="1100" b="1">
                          <a:solidFill>
                            <a:srgbClr val="3B9EFF"/>
                          </a:solidFill>
                        </a:rPr>
                        <a:t>Answer</a:t>
                      </a:r>
                    </a:p>
                  </a:txBody>
                  <a:tcPr>
                    <a:solidFill>
                      <a:srgbClr val="1B212A"/>
                    </a:solidFill>
                  </a:tcPr>
                </a:tc>
              </a:tr>
              <a:tr h="292608">
                <a:tc>
                  <a:txBody>
                    <a:bodyPr/>
                    <a:lstStyle/>
                    <a:p>
                      <a:r>
                        <a:rPr sz="1100">
                          <a:solidFill>
                            <a:srgbClr val="E8ECF1"/>
                          </a:solidFill>
                        </a:rPr>
                        <a:t>Is this really decentralised, or is the server the brain?</a:t>
                      </a:r>
                    </a:p>
                  </a:txBody>
                  <a:tcPr>
                    <a:solidFill>
                      <a:srgbClr val="12161C"/>
                    </a:solidFill>
                  </a:tcPr>
                </a:tc>
                <a:tc>
                  <a:txBody>
                    <a:bodyPr/>
                    <a:lstStyle/>
                    <a:p>
                      <a:r>
                        <a:rPr sz="1100">
                          <a:solidFill>
                            <a:srgbClr val="E8ECF1"/>
                          </a:solidFill>
                        </a:rPr>
                        <a:t>The server is a viewport. Every binding decision is made inside a robot agent from a 15 m horizon. Kill the socket and the fleet keeps coordinating.</a:t>
                      </a:r>
                    </a:p>
                  </a:txBody>
                  <a:tcPr>
                    <a:solidFill>
                      <a:srgbClr val="12161C"/>
                    </a:solidFill>
                  </a:tcPr>
                </a:tc>
              </a:tr>
              <a:tr h="292608">
                <a:tc>
                  <a:txBody>
                    <a:bodyPr/>
                    <a:lstStyle/>
                    <a:p>
                      <a:r>
                        <a:rPr sz="1100">
                          <a:solidFill>
                            <a:srgbClr val="E8ECF1"/>
                          </a:solidFill>
                        </a:rPr>
                        <a:t>Where is the AI?</a:t>
                      </a:r>
                    </a:p>
                  </a:txBody>
                  <a:tcPr>
                    <a:solidFill>
                      <a:srgbClr val="1B212A"/>
                    </a:solidFill>
                  </a:tcPr>
                </a:tc>
                <a:tc>
                  <a:txBody>
                    <a:bodyPr/>
                    <a:lstStyle/>
                    <a:p>
                      <a:r>
                        <a:rPr sz="1100">
                          <a:solidFill>
                            <a:srgbClr val="E8ECF1"/>
                          </a:solidFill>
                        </a:rPr>
                        <a:t>Advisory, and measured. It lost to persistence by 4x, so we fenced it out of the safety path and documented why. The intelligence in the safety path is the arbitration, not a model.</a:t>
                      </a:r>
                    </a:p>
                  </a:txBody>
                  <a:tcPr>
                    <a:solidFill>
                      <a:srgbClr val="1B212A"/>
                    </a:solidFill>
                  </a:tcPr>
                </a:tc>
              </a:tr>
              <a:tr h="292608">
                <a:tc>
                  <a:txBody>
                    <a:bodyPr/>
                    <a:lstStyle/>
                    <a:p>
                      <a:r>
                        <a:rPr sz="1100">
                          <a:solidFill>
                            <a:srgbClr val="E8ECF1"/>
                          </a:solidFill>
                        </a:rPr>
                        <a:t>Did you hit the 20 percent target?</a:t>
                      </a:r>
                    </a:p>
                  </a:txBody>
                  <a:tcPr>
                    <a:solidFill>
                      <a:srgbClr val="12161C"/>
                    </a:solidFill>
                  </a:tcPr>
                </a:tc>
                <a:tc>
                  <a:txBody>
                    <a:bodyPr/>
                    <a:lstStyle/>
                    <a:p>
                      <a:r>
                        <a:rPr sz="1100">
                          <a:solidFill>
                            <a:srgbClr val="E8ECF1"/>
                          </a:solidFill>
                        </a:rPr>
                        <a:t>In a frozen simulation benchmark, for the product default on the overlapping-paths floor: +48.9 percent, 95 percent CI [+35.3, +62.5], 40/40 vs 21/40 batches finished. Mostly reliability: where both finish it is +17.5 percent [+1.4, +33.6], and the open floor is slower when both finish.</a:t>
                      </a:r>
                    </a:p>
                  </a:txBody>
                  <a:tcPr>
                    <a:solidFill>
                      <a:srgbClr val="12161C"/>
                    </a:solidFill>
                  </a:tcPr>
                </a:tc>
              </a:tr>
              <a:tr h="292608">
                <a:tc>
                  <a:txBody>
                    <a:bodyPr/>
                    <a:lstStyle/>
                    <a:p>
                      <a:r>
                        <a:rPr sz="1100">
                          <a:solidFill>
                            <a:srgbClr val="E8ECF1"/>
                          </a:solidFill>
                        </a:rPr>
                        <a:t>What happens when the network dies?</a:t>
                      </a:r>
                    </a:p>
                  </a:txBody>
                  <a:tcPr>
                    <a:solidFill>
                      <a:srgbClr val="1B212A"/>
                    </a:solidFill>
                  </a:tcPr>
                </a:tc>
                <a:tc>
                  <a:txBody>
                    <a:bodyPr/>
                    <a:lstStyle/>
                    <a:p>
                      <a:r>
                        <a:rPr sz="1100">
                          <a:solidFill>
                            <a:srgbClr val="E8ECF1"/>
                          </a:solidFill>
                        </a:rPr>
                        <a:t>Sovereign mode. Speed capped at half, margin widened by 0.35 m, existing reservations only. Visible in the UI and in a KPI.</a:t>
                      </a:r>
                    </a:p>
                  </a:txBody>
                  <a:tcPr>
                    <a:solidFill>
                      <a:srgbClr val="1B212A"/>
                    </a:solidFill>
                  </a:tcPr>
                </a:tc>
              </a:tr>
              <a:tr h="292608">
                <a:tc>
                  <a:txBody>
                    <a:bodyPr/>
                    <a:lstStyle/>
                    <a:p>
                      <a:r>
                        <a:rPr sz="1100">
                          <a:solidFill>
                            <a:srgbClr val="E8ECF1"/>
                          </a:solidFill>
                        </a:rPr>
                        <a:t>Would this scale to 500 robots?</a:t>
                      </a:r>
                    </a:p>
                  </a:txBody>
                  <a:tcPr>
                    <a:solidFill>
                      <a:srgbClr val="12161C"/>
                    </a:solidFill>
                  </a:tcPr>
                </a:tc>
                <a:tc>
                  <a:txBody>
                    <a:bodyPr/>
                    <a:lstStyle/>
                    <a:p>
                      <a:r>
                        <a:rPr sz="1100">
                          <a:solidFill>
                            <a:srgbClr val="E8ECF1"/>
                          </a:solidFill>
                        </a:rPr>
                        <a:t>Message cost is O(k) in local density, tested at 8, 32 and 64 on the same pitch. Compute p95 is 10 ms of a 100 ms budget at 50. We have not run 500, so we will not claim 500.</a:t>
                      </a:r>
                    </a:p>
                  </a:txBody>
                  <a:tcPr>
                    <a:solidFill>
                      <a:srgbClr val="12161C"/>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What we claim, and what we do not</a:t>
            </a:r>
          </a:p>
          <a:p>
            <a:pPr>
              <a:spcAft>
                <a:spcPts val="400"/>
              </a:spcAft>
            </a:pPr>
            <a:r>
              <a:rPr sz="1300" b="0">
                <a:solidFill>
                  <a:srgbClr val="93A1B2"/>
                </a:solidFill>
                <a:latin typeface="Calibri"/>
              </a:rPr>
              <a:t>The second list is the reason to believe the first</a:t>
            </a:r>
          </a:p>
        </p:txBody>
      </p:sp>
      <p:sp>
        <p:nvSpPr>
          <p:cNvPr id="4" name="Rounded Rectangle 3"/>
          <p:cNvSpPr/>
          <p:nvPr/>
        </p:nvSpPr>
        <p:spPr>
          <a:xfrm>
            <a:off x="502920" y="1234440"/>
            <a:ext cx="5394960" cy="45720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35C78A"/>
                </a:solidFill>
                <a:latin typeface="Calibri"/>
              </a:rPr>
              <a:t>We claim, and can demonstrate</a:t>
            </a:r>
          </a:p>
          <a:p>
            <a:pPr>
              <a:spcAft>
                <a:spcPts val="600"/>
              </a:spcAft>
            </a:pPr>
            <a:r>
              <a:rPr sz="1200" b="0">
                <a:solidFill>
                  <a:srgbClr val="E8ECF1"/>
                </a:solidFill>
                <a:latin typeface="Calibri"/>
              </a:rPr>
              <a:t>Zero collisions - enforced geometrically and pinned by tests.</a:t>
            </a:r>
          </a:p>
          <a:p>
            <a:pPr>
              <a:spcAft>
                <a:spcPts val="600"/>
              </a:spcAft>
            </a:pPr>
            <a:r>
              <a:rPr sz="1200" b="0">
                <a:solidFill>
                  <a:srgbClr val="E8ECF1"/>
                </a:solidFill>
                <a:latin typeface="Calibri"/>
              </a:rPr>
              <a:t>Deterministic replay from a seed, via trace hash.</a:t>
            </a:r>
          </a:p>
          <a:p>
            <a:pPr>
              <a:spcAft>
                <a:spcPts val="600"/>
              </a:spcAft>
            </a:pPr>
            <a:r>
              <a:rPr sz="1200" b="0">
                <a:solidFill>
                  <a:srgbClr val="E8ECF1"/>
                </a:solidFill>
                <a:latin typeface="Calibri"/>
              </a:rPr>
              <a:t>Simplex runtime assurance: a verifiable monitor beneath an unverifiable planner.</a:t>
            </a:r>
          </a:p>
          <a:p>
            <a:pPr>
              <a:spcAft>
                <a:spcPts val="600"/>
              </a:spcAft>
            </a:pPr>
            <a:r>
              <a:rPr sz="1200" b="0">
                <a:solidFill>
                  <a:srgbClr val="E8ECF1"/>
                </a:solidFill>
                <a:latin typeface="Calibri"/>
              </a:rPr>
              <a:t>Adversarial robot detection, quarantine and route-around.</a:t>
            </a:r>
          </a:p>
          <a:p>
            <a:pPr>
              <a:spcAft>
                <a:spcPts val="600"/>
              </a:spcAft>
            </a:pPr>
            <a:r>
              <a:rPr sz="1200" b="0">
                <a:solidFill>
                  <a:srgbClr val="E8ECF1"/>
                </a:solidFill>
                <a:latin typeface="Calibri"/>
              </a:rPr>
              <a:t>Sovereign operation after total radio loss, under a stated envelope.</a:t>
            </a:r>
          </a:p>
          <a:p>
            <a:pPr>
              <a:spcAft>
                <a:spcPts val="600"/>
              </a:spcAft>
            </a:pPr>
            <a:r>
              <a:rPr sz="1200" b="0">
                <a:solidFill>
                  <a:srgbClr val="E8ECF1"/>
                </a:solidFill>
                <a:latin typeface="Calibri"/>
              </a:rPr>
              <a:t>O(k) message cost in local density, not fleet size.</a:t>
            </a:r>
          </a:p>
          <a:p>
            <a:pPr>
              <a:spcAft>
                <a:spcPts val="600"/>
              </a:spcAft>
            </a:pPr>
            <a:r>
              <a:rPr sz="1200" b="0">
                <a:solidFill>
                  <a:srgbClr val="E8ECF1"/>
                </a:solidFill>
                <a:latin typeface="Calibri"/>
              </a:rPr>
              <a:t>10 ms p95 tick compute against a 100 ms budget at fleet 50.</a:t>
            </a:r>
          </a:p>
        </p:txBody>
      </p:sp>
      <p:sp>
        <p:nvSpPr>
          <p:cNvPr id="5" name="Rounded Rectangle 4"/>
          <p:cNvSpPr/>
          <p:nvPr/>
        </p:nvSpPr>
        <p:spPr>
          <a:xfrm>
            <a:off x="6263640" y="1234440"/>
            <a:ext cx="5394960" cy="4572000"/>
          </a:xfrm>
          <a:prstGeom prst="roundRect">
            <a:avLst/>
          </a:prstGeom>
          <a:solidFill>
            <a:srgbClr val="1B212A"/>
          </a:solidFill>
          <a:ln w="15875">
            <a:solidFill>
              <a:srgbClr val="E55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E55B5B"/>
                </a:solidFill>
                <a:latin typeface="Calibri"/>
              </a:rPr>
              <a:t>We do not claim</a:t>
            </a:r>
          </a:p>
          <a:p>
            <a:pPr>
              <a:spcAft>
                <a:spcPts val="600"/>
              </a:spcAft>
            </a:pPr>
            <a:r>
              <a:rPr sz="1200" b="0">
                <a:solidFill>
                  <a:srgbClr val="E8ECF1"/>
                </a:solidFill>
                <a:latin typeface="Calibri"/>
              </a:rPr>
              <a:t>That SWARMOS is universally faster. C2 (+48.9 percent, simulation) is mostly reliability; where both finish it is +17.5 percent, and slower on the open floor.</a:t>
            </a:r>
          </a:p>
          <a:p>
            <a:pPr>
              <a:spcAft>
                <a:spcPts val="600"/>
              </a:spcAft>
            </a:pPr>
            <a:r>
              <a:rPr sz="1200" b="0">
                <a:solidFill>
                  <a:srgbClr val="E8ECF1"/>
                </a:solidFill>
                <a:latin typeface="Calibri"/>
              </a:rPr>
              <a:t>Physical-world certification. Every C2 number is simulation.</a:t>
            </a:r>
          </a:p>
          <a:p>
            <a:pPr>
              <a:spcAft>
                <a:spcPts val="600"/>
              </a:spcAft>
            </a:pPr>
            <a:r>
              <a:rPr sz="1200" b="0">
                <a:solidFill>
                  <a:srgbClr val="E8ECF1"/>
                </a:solidFill>
                <a:latin typeface="Calibri"/>
              </a:rPr>
              <a:t>That our forecaster is good. It is worse than persistence and we published the number.</a:t>
            </a:r>
          </a:p>
          <a:p>
            <a:pPr>
              <a:spcAft>
                <a:spcPts val="600"/>
              </a:spcAft>
            </a:pPr>
            <a:r>
              <a:rPr sz="1200" b="0">
                <a:solidFill>
                  <a:srgbClr val="E8ECF1"/>
                </a:solidFill>
                <a:latin typeface="Calibri"/>
              </a:rPr>
              <a:t>Operation at 500 robots. Untested, therefore unclaimed.</a:t>
            </a:r>
          </a:p>
          <a:p>
            <a:pPr>
              <a:spcAft>
                <a:spcPts val="600"/>
              </a:spcAft>
            </a:pPr>
            <a:r>
              <a:rPr sz="1200" b="0">
                <a:solidFill>
                  <a:srgbClr val="E8ECF1"/>
                </a:solidFill>
                <a:latin typeface="Calibri"/>
              </a:rPr>
              <a:t>Hardware validation. This is a simulation-backed software stack, and the physics is deliberately simple.</a:t>
            </a:r>
          </a:p>
          <a:p>
            <a:pPr>
              <a:spcAft>
                <a:spcPts val="600"/>
              </a:spcAft>
            </a:pPr>
            <a:r>
              <a:rPr sz="1200" b="0">
                <a:solidFill>
                  <a:srgbClr val="E8ECF1"/>
                </a:solidFill>
                <a:latin typeface="Calibri"/>
              </a:rPr>
              <a:t>Novelty for N1, N2, N4 and N6 - those are competent engineering, not contributions.</a:t>
            </a:r>
          </a:p>
        </p:txBody>
      </p:sp>
      <p:sp>
        <p:nvSpPr>
          <p:cNvPr id="6" name="Rounded Rectangle 5"/>
          <p:cNvSpPr/>
          <p:nvPr/>
        </p:nvSpPr>
        <p:spPr>
          <a:xfrm>
            <a:off x="502920" y="5989320"/>
            <a:ext cx="11155680" cy="566928"/>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A judge who asks 'what was your n?' ends a cherry-picked claim in one question. A measured miss with a route to a real answer survives the whole Q and 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What comes next</a:t>
            </a:r>
          </a:p>
          <a:p>
            <a:pPr>
              <a:spcAft>
                <a:spcPts val="400"/>
              </a:spcAft>
            </a:pPr>
            <a:r>
              <a:rPr sz="1300" b="0">
                <a:solidFill>
                  <a:srgbClr val="93A1B2"/>
                </a:solidFill>
                <a:latin typeface="Calibri"/>
              </a:rPr>
              <a:t>Ordered by what would change a conclusion, not by what is easiest</a:t>
            </a:r>
          </a:p>
        </p:txBody>
      </p:sp>
      <p:graphicFrame>
        <p:nvGraphicFramePr>
          <p:cNvPr id="4" name="Table 3"/>
          <p:cNvGraphicFramePr>
            <a:graphicFrameLocks noGrp="1"/>
          </p:cNvGraphicFramePr>
          <p:nvPr/>
        </p:nvGraphicFramePr>
        <p:xfrm>
          <a:off x="502920" y="1371600"/>
          <a:ext cx="11155680" cy="1463040"/>
        </p:xfrm>
        <a:graphic>
          <a:graphicData uri="http://schemas.openxmlformats.org/drawingml/2006/table">
            <a:tbl>
              <a:tblPr firstRow="1" bandRow="1">
                <a:tableStyleId>{5C22544A-7EE6-4342-B048-85BDC9FD1C3A}</a:tableStyleId>
              </a:tblPr>
              <a:tblGrid>
                <a:gridCol w="548640"/>
                <a:gridCol w="3474720"/>
                <a:gridCol w="7132320"/>
              </a:tblGrid>
              <a:tr h="292608">
                <a:tc>
                  <a:txBody>
                    <a:bodyPr/>
                    <a:lstStyle/>
                    <a:p/>
                  </a:txBody>
                  <a:tcPr>
                    <a:solidFill>
                      <a:srgbClr val="1B212A"/>
                    </a:solidFill>
                  </a:tcPr>
                </a:tc>
                <a:tc>
                  <a:txBody>
                    <a:bodyPr/>
                    <a:lstStyle/>
                    <a:p>
                      <a:r>
                        <a:rPr sz="1200" b="1">
                          <a:solidFill>
                            <a:srgbClr val="3B9EFF"/>
                          </a:solidFill>
                        </a:rPr>
                        <a:t>Next step</a:t>
                      </a:r>
                    </a:p>
                  </a:txBody>
                  <a:tcPr>
                    <a:solidFill>
                      <a:srgbClr val="1B212A"/>
                    </a:solidFill>
                  </a:tcPr>
                </a:tc>
                <a:tc>
                  <a:txBody>
                    <a:bodyPr/>
                    <a:lstStyle/>
                    <a:p>
                      <a:r>
                        <a:rPr sz="1200" b="1">
                          <a:solidFill>
                            <a:srgbClr val="3B9EFF"/>
                          </a:solidFill>
                        </a:rPr>
                        <a:t>Why it is next</a:t>
                      </a:r>
                    </a:p>
                  </a:txBody>
                  <a:tcPr>
                    <a:solidFill>
                      <a:srgbClr val="1B212A"/>
                    </a:solidFill>
                  </a:tcPr>
                </a:tc>
              </a:tr>
              <a:tr h="292608">
                <a:tc>
                  <a:txBody>
                    <a:bodyPr/>
                    <a:lstStyle/>
                    <a:p>
                      <a:r>
                        <a:rPr sz="1200">
                          <a:solidFill>
                            <a:srgbClr val="E8ECF1"/>
                          </a:solidFill>
                        </a:rPr>
                        <a:t>1</a:t>
                      </a:r>
                    </a:p>
                  </a:txBody>
                  <a:tcPr>
                    <a:solidFill>
                      <a:srgbClr val="12161C"/>
                    </a:solidFill>
                  </a:tcPr>
                </a:tc>
                <a:tc>
                  <a:txBody>
                    <a:bodyPr/>
                    <a:lstStyle/>
                    <a:p>
                      <a:r>
                        <a:rPr sz="1200">
                          <a:solidFill>
                            <a:srgbClr val="E8ECF1"/>
                          </a:solidFill>
                        </a:rPr>
                        <a:t>Re-score C2 on a sound statistic</a:t>
                      </a:r>
                    </a:p>
                  </a:txBody>
                  <a:tcPr>
                    <a:solidFill>
                      <a:srgbClr val="12161C"/>
                    </a:solidFill>
                  </a:tcPr>
                </a:tc>
                <a:tc>
                  <a:txBody>
                    <a:bodyPr/>
                    <a:lstStyle/>
                    <a:p>
                      <a:r>
                        <a:rPr sz="1200">
                          <a:solidFill>
                            <a:srgbClr val="E8ECF1"/>
                          </a:solidFill>
                        </a:rPr>
                        <a:t>Equal-completion-count time and tasks_per_min, both immune to the survivorship bias in avg_completion_s. No new simulation needed - the paired runs are already on disk.</a:t>
                      </a:r>
                    </a:p>
                  </a:txBody>
                  <a:tcPr>
                    <a:solidFill>
                      <a:srgbClr val="12161C"/>
                    </a:solidFill>
                  </a:tcPr>
                </a:tc>
              </a:tr>
              <a:tr h="292608">
                <a:tc>
                  <a:txBody>
                    <a:bodyPr/>
                    <a:lstStyle/>
                    <a:p>
                      <a:r>
                        <a:rPr sz="1200">
                          <a:solidFill>
                            <a:srgbClr val="E8ECF1"/>
                          </a:solidFill>
                        </a:rPr>
                        <a:t>2</a:t>
                      </a:r>
                    </a:p>
                  </a:txBody>
                  <a:tcPr>
                    <a:solidFill>
                      <a:srgbClr val="1B212A"/>
                    </a:solidFill>
                  </a:tcPr>
                </a:tc>
                <a:tc>
                  <a:txBody>
                    <a:bodyPr/>
                    <a:lstStyle/>
                    <a:p>
                      <a:r>
                        <a:rPr sz="1200">
                          <a:solidFill>
                            <a:srgbClr val="E8ECF1"/>
                          </a:solidFill>
                        </a:rPr>
                        <a:t>Raise task supply until neither arm is idle-limited</a:t>
                      </a:r>
                    </a:p>
                  </a:txBody>
                  <a:tcPr>
                    <a:solidFill>
                      <a:srgbClr val="1B212A"/>
                    </a:solidFill>
                  </a:tcPr>
                </a:tc>
                <a:tc>
                  <a:txBody>
                    <a:bodyPr/>
                    <a:lstStyle/>
                    <a:p>
                      <a:r>
                        <a:rPr sz="1200">
                          <a:solidFill>
                            <a:srgbClr val="E8ECF1"/>
                          </a:solidFill>
                        </a:rPr>
                        <a:t>Measured: blocked_aisle is exhausted well before 1800 ticks, so longer runs cannot power C2. Until supply binds, no coordination policy can move the number and the scenario is the thing to fix.</a:t>
                      </a:r>
                    </a:p>
                  </a:txBody>
                  <a:tcPr>
                    <a:solidFill>
                      <a:srgbClr val="1B212A"/>
                    </a:solidFill>
                  </a:tcPr>
                </a:tc>
              </a:tr>
              <a:tr h="292608">
                <a:tc>
                  <a:txBody>
                    <a:bodyPr/>
                    <a:lstStyle/>
                    <a:p>
                      <a:r>
                        <a:rPr sz="1200">
                          <a:solidFill>
                            <a:srgbClr val="E8ECF1"/>
                          </a:solidFill>
                        </a:rPr>
                        <a:t>3</a:t>
                      </a:r>
                    </a:p>
                  </a:txBody>
                  <a:tcPr>
                    <a:solidFill>
                      <a:srgbClr val="12161C"/>
                    </a:solidFill>
                  </a:tcPr>
                </a:tc>
                <a:tc>
                  <a:txBody>
                    <a:bodyPr/>
                    <a:lstStyle/>
                    <a:p>
                      <a:r>
                        <a:rPr sz="1200">
                          <a:solidFill>
                            <a:srgbClr val="E8ECF1"/>
                          </a:solidFill>
                        </a:rPr>
                        <a:t>Scale study</a:t>
                      </a:r>
                    </a:p>
                  </a:txBody>
                  <a:tcPr>
                    <a:solidFill>
                      <a:srgbClr val="12161C"/>
                    </a:solidFill>
                  </a:tcPr>
                </a:tc>
                <a:tc>
                  <a:txBody>
                    <a:bodyPr/>
                    <a:lstStyle/>
                    <a:p>
                      <a:r>
                        <a:rPr sz="1200">
                          <a:solidFill>
                            <a:srgbClr val="E8ECF1"/>
                          </a:solidFill>
                        </a:rPr>
                        <a:t>Fleet 100 and 200 with the same seeds, to confirm the O(k) claim holds where it matters.</a:t>
                      </a:r>
                    </a:p>
                  </a:txBody>
                  <a:tcPr>
                    <a:solidFill>
                      <a:srgbClr val="12161C"/>
                    </a:solidFill>
                  </a:tcPr>
                </a:tc>
              </a:tr>
              <a:tr h="292608">
                <a:tc>
                  <a:txBody>
                    <a:bodyPr/>
                    <a:lstStyle/>
                    <a:p>
                      <a:r>
                        <a:rPr sz="1200">
                          <a:solidFill>
                            <a:srgbClr val="E8ECF1"/>
                          </a:solidFill>
                        </a:rPr>
                        <a:t>4</a:t>
                      </a:r>
                    </a:p>
                  </a:txBody>
                  <a:tcPr>
                    <a:solidFill>
                      <a:srgbClr val="1B212A"/>
                    </a:solidFill>
                  </a:tcPr>
                </a:tc>
                <a:tc>
                  <a:txBody>
                    <a:bodyPr/>
                    <a:lstStyle/>
                    <a:p>
                      <a:r>
                        <a:rPr sz="1200">
                          <a:solidFill>
                            <a:srgbClr val="E8ECF1"/>
                          </a:solidFill>
                        </a:rPr>
                        <a:t>Hardware-in-the-loop</a:t>
                      </a:r>
                    </a:p>
                  </a:txBody>
                  <a:tcPr>
                    <a:solidFill>
                      <a:srgbClr val="1B212A"/>
                    </a:solidFill>
                  </a:tcPr>
                </a:tc>
                <a:tc>
                  <a:txBody>
                    <a:bodyPr/>
                    <a:lstStyle/>
                    <a:p>
                      <a:r>
                        <a:rPr sz="1200">
                          <a:solidFill>
                            <a:srgbClr val="E8ECF1"/>
                          </a:solidFill>
                        </a:rPr>
                        <a:t>Replace the physics with a ROS 2 bridge. The coordination layer already talks only to a state contract, so this is a swap, not a rewrite.</a:t>
                      </a:r>
                    </a:p>
                  </a:txBody>
                  <a:tcPr>
                    <a:solidFill>
                      <a:srgbClr val="1B212A"/>
                    </a:solidFill>
                  </a:tcPr>
                </a:tc>
              </a:tr>
            </a:tbl>
          </a:graphicData>
        </a:graphic>
      </p:graphicFrame>
      <p:sp>
        <p:nvSpPr>
          <p:cNvPr id="5" name="Rounded Rectangle 4"/>
          <p:cNvSpPr/>
          <p:nvPr/>
        </p:nvSpPr>
        <p:spPr>
          <a:xfrm>
            <a:off x="502920" y="5394960"/>
            <a:ext cx="11155680" cy="566928"/>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The two items that used to head this list - longer runs, and checking whether task supply binds - are now answered, and the answer killed the first one. Item 4 is cheap precisely because of law L1: one authoritative state source means the world model is replaceable.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SWARMOS</a:t>
            </a:r>
          </a:p>
          <a:p>
            <a:pPr>
              <a:spcAft>
                <a:spcPts val="400"/>
              </a:spcAft>
            </a:pPr>
            <a:r>
              <a:rPr sz="1300" b="0">
                <a:solidFill>
                  <a:srgbClr val="93A1B2"/>
                </a:solidFill>
                <a:latin typeface="Calibri"/>
              </a:rPr>
              <a:t>Summary</a:t>
            </a:r>
          </a:p>
        </p:txBody>
      </p:sp>
      <p:sp>
        <p:nvSpPr>
          <p:cNvPr id="4" name="TextBox 3"/>
          <p:cNvSpPr txBox="1"/>
          <p:nvPr/>
        </p:nvSpPr>
        <p:spPr>
          <a:xfrm>
            <a:off x="502920" y="1463040"/>
            <a:ext cx="11155680" cy="5120640"/>
          </a:xfrm>
          <a:prstGeom prst="rect">
            <a:avLst/>
          </a:prstGeom>
          <a:noFill/>
        </p:spPr>
        <p:txBody>
          <a:bodyPr wrap="square">
            <a:spAutoFit/>
          </a:bodyPr>
          <a:lstStyle/>
          <a:p>
            <a:pPr>
              <a:spcAft>
                <a:spcPts val="1600"/>
              </a:spcAft>
            </a:pPr>
            <a:r>
              <a:rPr sz="1700" b="0">
                <a:solidFill>
                  <a:srgbClr val="E8ECF1"/>
                </a:solidFill>
                <a:latin typeface="Calibri"/>
              </a:rPr>
              <a:t>A decentralised AMR coordination stack in which the safety layer is the smallest and most tested part of the system, every behaviour is replayable from a seed, and the machine learning is advisory because we measured it and it lost.</a:t>
            </a:r>
          </a:p>
          <a:p>
            <a:pPr>
              <a:spcAft>
                <a:spcPts val="1600"/>
              </a:spcAft>
            </a:pPr>
            <a:r>
              <a:rPr sz="1700" b="0">
                <a:solidFill>
                  <a:srgbClr val="E8ECF1"/>
                </a:solidFill>
                <a:latin typeface="Calibri"/>
              </a:rPr>
              <a:t>Six modules, 24 thousand lines, 570 green tests, zero collisions across 18 paired adversarial runs, and one published criterion miss with a stated route to answering it.</a:t>
            </a:r>
          </a:p>
        </p:txBody>
      </p:sp>
      <p:sp>
        <p:nvSpPr>
          <p:cNvPr id="5" name="Rounded Rectangle 4"/>
          <p:cNvSpPr/>
          <p:nvPr/>
        </p:nvSpPr>
        <p:spPr>
          <a:xfrm>
            <a:off x="502920" y="3749039"/>
            <a:ext cx="2617470" cy="13716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570</a:t>
            </a:r>
          </a:p>
          <a:p>
            <a:pPr>
              <a:spcAft>
                <a:spcPts val="400"/>
              </a:spcAft>
            </a:pPr>
            <a:r>
              <a:rPr sz="1100" b="0">
                <a:solidFill>
                  <a:srgbClr val="93A1B2"/>
                </a:solidFill>
                <a:latin typeface="Calibri"/>
              </a:rPr>
              <a:t>tests green</a:t>
            </a:r>
          </a:p>
        </p:txBody>
      </p:sp>
      <p:sp>
        <p:nvSpPr>
          <p:cNvPr id="6" name="Rounded Rectangle 5"/>
          <p:cNvSpPr/>
          <p:nvPr/>
        </p:nvSpPr>
        <p:spPr>
          <a:xfrm>
            <a:off x="3348989" y="3749039"/>
            <a:ext cx="2617470" cy="13716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0</a:t>
            </a:r>
          </a:p>
          <a:p>
            <a:pPr>
              <a:spcAft>
                <a:spcPts val="400"/>
              </a:spcAft>
            </a:pPr>
            <a:r>
              <a:rPr sz="1100" b="0">
                <a:solidFill>
                  <a:srgbClr val="93A1B2"/>
                </a:solidFill>
                <a:latin typeface="Calibri"/>
              </a:rPr>
              <a:t>collisions</a:t>
            </a:r>
          </a:p>
        </p:txBody>
      </p:sp>
      <p:sp>
        <p:nvSpPr>
          <p:cNvPr id="7" name="Rounded Rectangle 6"/>
          <p:cNvSpPr/>
          <p:nvPr/>
        </p:nvSpPr>
        <p:spPr>
          <a:xfrm>
            <a:off x="6195059" y="3749039"/>
            <a:ext cx="2617470" cy="137160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4FB3A6"/>
                </a:solidFill>
                <a:latin typeface="Calibri"/>
              </a:rPr>
              <a:t>10 ms</a:t>
            </a:r>
          </a:p>
          <a:p>
            <a:pPr>
              <a:spcAft>
                <a:spcPts val="400"/>
              </a:spcAft>
            </a:pPr>
            <a:r>
              <a:rPr sz="1100" b="0">
                <a:solidFill>
                  <a:srgbClr val="93A1B2"/>
                </a:solidFill>
                <a:latin typeface="Calibri"/>
              </a:rPr>
              <a:t>p95 of 100 ms</a:t>
            </a:r>
          </a:p>
        </p:txBody>
      </p:sp>
      <p:sp>
        <p:nvSpPr>
          <p:cNvPr id="8" name="Rounded Rectangle 7"/>
          <p:cNvSpPr/>
          <p:nvPr/>
        </p:nvSpPr>
        <p:spPr>
          <a:xfrm>
            <a:off x="9041130" y="3749039"/>
            <a:ext cx="2617470" cy="137160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F2B137"/>
                </a:solidFill>
                <a:latin typeface="Calibri"/>
              </a:rPr>
              <a:t>1</a:t>
            </a:r>
          </a:p>
          <a:p>
            <a:pPr>
              <a:spcAft>
                <a:spcPts val="400"/>
              </a:spcAft>
            </a:pPr>
            <a:r>
              <a:rPr sz="1100" b="0">
                <a:solidFill>
                  <a:srgbClr val="93A1B2"/>
                </a:solidFill>
                <a:latin typeface="Calibri"/>
              </a:rPr>
              <a:t>criterion openly missed</a:t>
            </a:r>
          </a:p>
        </p:txBody>
      </p:sp>
      <p:sp>
        <p:nvSpPr>
          <p:cNvPr id="9" name="Rounded Rectangle 8"/>
          <p:cNvSpPr/>
          <p:nvPr/>
        </p:nvSpPr>
        <p:spPr>
          <a:xfrm>
            <a:off x="502920" y="5760720"/>
            <a:ext cx="11155680" cy="566928"/>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Problem ID SIH26123  -  Bharat Electronics Limited  -  Robotics and Drones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